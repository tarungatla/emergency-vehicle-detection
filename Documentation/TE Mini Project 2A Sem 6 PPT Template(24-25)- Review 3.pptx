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Proxima Nova"/>
      <p:regular r:id="rId31"/>
      <p:bold r:id="rId32"/>
      <p:italic r:id="rId33"/>
      <p:boldItalic r:id="rId34"/>
    </p:embeddedFont>
    <p:embeddedFont>
      <p:font typeface="Roboto"/>
      <p:regular r:id="rId35"/>
      <p:bold r:id="rId36"/>
      <p:italic r:id="rId37"/>
      <p:boldItalic r:id="rId38"/>
    </p:embeddedFont>
    <p:embeddedFont>
      <p:font typeface="Book Antiqua"/>
      <p:regular r:id="rId39"/>
      <p:bold r:id="rId40"/>
      <p:italic r:id="rId41"/>
      <p:boldItalic r:id="rId42"/>
    </p:embeddedFont>
    <p:embeddedFont>
      <p:font typeface="Alfa Slab One"/>
      <p:regular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ookAntiqua-bold.fntdata"/><Relationship Id="rId20" Type="http://schemas.openxmlformats.org/officeDocument/2006/relationships/slide" Target="slides/slide15.xml"/><Relationship Id="rId42" Type="http://schemas.openxmlformats.org/officeDocument/2006/relationships/font" Target="fonts/BookAntiqua-boldItalic.fntdata"/><Relationship Id="rId41" Type="http://schemas.openxmlformats.org/officeDocument/2006/relationships/font" Target="fonts/BookAntiqua-italic.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AlfaSlabOne-regular.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roximaNova-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roximaNova-italic.fntdata"/><Relationship Id="rId10" Type="http://schemas.openxmlformats.org/officeDocument/2006/relationships/slide" Target="slides/slide5.xml"/><Relationship Id="rId32" Type="http://schemas.openxmlformats.org/officeDocument/2006/relationships/font" Target="fonts/ProximaNova-bold.fntdata"/><Relationship Id="rId13" Type="http://schemas.openxmlformats.org/officeDocument/2006/relationships/slide" Target="slides/slide8.xml"/><Relationship Id="rId35" Type="http://schemas.openxmlformats.org/officeDocument/2006/relationships/font" Target="fonts/Roboto-regular.fntdata"/><Relationship Id="rId12" Type="http://schemas.openxmlformats.org/officeDocument/2006/relationships/slide" Target="slides/slide7.xml"/><Relationship Id="rId34" Type="http://schemas.openxmlformats.org/officeDocument/2006/relationships/font" Target="fonts/ProximaNova-boldItalic.fntdata"/><Relationship Id="rId15" Type="http://schemas.openxmlformats.org/officeDocument/2006/relationships/slide" Target="slides/slide10.xml"/><Relationship Id="rId37" Type="http://schemas.openxmlformats.org/officeDocument/2006/relationships/font" Target="fonts/Roboto-italic.fntdata"/><Relationship Id="rId14" Type="http://schemas.openxmlformats.org/officeDocument/2006/relationships/slide" Target="slides/slide9.xml"/><Relationship Id="rId36" Type="http://schemas.openxmlformats.org/officeDocument/2006/relationships/font" Target="fonts/Roboto-bold.fntdata"/><Relationship Id="rId17" Type="http://schemas.openxmlformats.org/officeDocument/2006/relationships/slide" Target="slides/slide12.xml"/><Relationship Id="rId39" Type="http://schemas.openxmlformats.org/officeDocument/2006/relationships/font" Target="fonts/BookAntiqua-regular.fntdata"/><Relationship Id="rId16" Type="http://schemas.openxmlformats.org/officeDocument/2006/relationships/slide" Target="slides/slide11.xml"/><Relationship Id="rId38" Type="http://schemas.openxmlformats.org/officeDocument/2006/relationships/font" Target="fonts/Robo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5087397172_7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5087397172_7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087397172_7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5087397172_7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5087397172_7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5087397172_7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5087397172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5087397172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 name="Shape 14"/>
        <p:cNvGrpSpPr/>
        <p:nvPr/>
      </p:nvGrpSpPr>
      <p:grpSpPr>
        <a:xfrm>
          <a:off x="0" y="0"/>
          <a:ext cx="0" cy="0"/>
          <a:chOff x="0" y="0"/>
          <a:chExt cx="0" cy="0"/>
        </a:xfrm>
      </p:grpSpPr>
      <p:sp>
        <p:nvSpPr>
          <p:cNvPr id="15" name="Google Shape;15;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6" name="Google Shape;16;p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7" name="Google Shape;17;p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 name="Google Shape;18;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1" name="Google Shape;21;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4" name="Google Shape;24;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6" name="Shape 26"/>
        <p:cNvGrpSpPr/>
        <p:nvPr/>
      </p:nvGrpSpPr>
      <p:grpSpPr>
        <a:xfrm>
          <a:off x="0" y="0"/>
          <a:ext cx="0" cy="0"/>
          <a:chOff x="0" y="0"/>
          <a:chExt cx="0" cy="0"/>
        </a:xfrm>
      </p:grpSpPr>
      <p:sp>
        <p:nvSpPr>
          <p:cNvPr id="27" name="Google Shape;27;p6"/>
          <p:cNvSpPr txBox="1"/>
          <p:nvPr>
            <p:ph type="title"/>
          </p:nvPr>
        </p:nvSpPr>
        <p:spPr>
          <a:xfrm>
            <a:off x="311700" y="2480550"/>
            <a:ext cx="8114400" cy="24459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6800"/>
              <a:buNone/>
              <a:defRPr sz="6800">
                <a:solidFill>
                  <a:schemeClr val="lt1"/>
                </a:solidFill>
              </a:defRPr>
            </a:lvl1pPr>
            <a:lvl2pPr lvl="1" algn="l">
              <a:lnSpc>
                <a:spcPct val="100000"/>
              </a:lnSpc>
              <a:spcBef>
                <a:spcPts val="0"/>
              </a:spcBef>
              <a:spcAft>
                <a:spcPts val="0"/>
              </a:spcAft>
              <a:buClr>
                <a:schemeClr val="lt1"/>
              </a:buClr>
              <a:buSzPts val="6800"/>
              <a:buNone/>
              <a:defRPr sz="6800">
                <a:solidFill>
                  <a:schemeClr val="lt1"/>
                </a:solidFill>
              </a:defRPr>
            </a:lvl2pPr>
            <a:lvl3pPr lvl="2" algn="l">
              <a:lnSpc>
                <a:spcPct val="100000"/>
              </a:lnSpc>
              <a:spcBef>
                <a:spcPts val="0"/>
              </a:spcBef>
              <a:spcAft>
                <a:spcPts val="0"/>
              </a:spcAft>
              <a:buClr>
                <a:schemeClr val="lt1"/>
              </a:buClr>
              <a:buSzPts val="6800"/>
              <a:buNone/>
              <a:defRPr sz="6800">
                <a:solidFill>
                  <a:schemeClr val="lt1"/>
                </a:solidFill>
              </a:defRPr>
            </a:lvl3pPr>
            <a:lvl4pPr lvl="3" algn="l">
              <a:lnSpc>
                <a:spcPct val="100000"/>
              </a:lnSpc>
              <a:spcBef>
                <a:spcPts val="0"/>
              </a:spcBef>
              <a:spcAft>
                <a:spcPts val="0"/>
              </a:spcAft>
              <a:buClr>
                <a:schemeClr val="lt1"/>
              </a:buClr>
              <a:buSzPts val="6800"/>
              <a:buNone/>
              <a:defRPr sz="6800">
                <a:solidFill>
                  <a:schemeClr val="lt1"/>
                </a:solidFill>
              </a:defRPr>
            </a:lvl4pPr>
            <a:lvl5pPr lvl="4" algn="l">
              <a:lnSpc>
                <a:spcPct val="100000"/>
              </a:lnSpc>
              <a:spcBef>
                <a:spcPts val="0"/>
              </a:spcBef>
              <a:spcAft>
                <a:spcPts val="0"/>
              </a:spcAft>
              <a:buClr>
                <a:schemeClr val="lt1"/>
              </a:buClr>
              <a:buSzPts val="6800"/>
              <a:buNone/>
              <a:defRPr sz="6800">
                <a:solidFill>
                  <a:schemeClr val="lt1"/>
                </a:solidFill>
              </a:defRPr>
            </a:lvl5pPr>
            <a:lvl6pPr lvl="5" algn="l">
              <a:lnSpc>
                <a:spcPct val="100000"/>
              </a:lnSpc>
              <a:spcBef>
                <a:spcPts val="0"/>
              </a:spcBef>
              <a:spcAft>
                <a:spcPts val="0"/>
              </a:spcAft>
              <a:buClr>
                <a:schemeClr val="lt1"/>
              </a:buClr>
              <a:buSzPts val="6800"/>
              <a:buNone/>
              <a:defRPr sz="6800">
                <a:solidFill>
                  <a:schemeClr val="lt1"/>
                </a:solidFill>
              </a:defRPr>
            </a:lvl6pPr>
            <a:lvl7pPr lvl="6" algn="l">
              <a:lnSpc>
                <a:spcPct val="100000"/>
              </a:lnSpc>
              <a:spcBef>
                <a:spcPts val="0"/>
              </a:spcBef>
              <a:spcAft>
                <a:spcPts val="0"/>
              </a:spcAft>
              <a:buClr>
                <a:schemeClr val="lt1"/>
              </a:buClr>
              <a:buSzPts val="6800"/>
              <a:buNone/>
              <a:defRPr sz="6800">
                <a:solidFill>
                  <a:schemeClr val="lt1"/>
                </a:solidFill>
              </a:defRPr>
            </a:lvl7pPr>
            <a:lvl8pPr lvl="7" algn="l">
              <a:lnSpc>
                <a:spcPct val="100000"/>
              </a:lnSpc>
              <a:spcBef>
                <a:spcPts val="0"/>
              </a:spcBef>
              <a:spcAft>
                <a:spcPts val="0"/>
              </a:spcAft>
              <a:buClr>
                <a:schemeClr val="lt1"/>
              </a:buClr>
              <a:buSzPts val="6800"/>
              <a:buNone/>
              <a:defRPr sz="6800">
                <a:solidFill>
                  <a:schemeClr val="lt1"/>
                </a:solidFill>
              </a:defRPr>
            </a:lvl8pPr>
            <a:lvl9pPr lvl="8" algn="l">
              <a:lnSpc>
                <a:spcPct val="100000"/>
              </a:lnSpc>
              <a:spcBef>
                <a:spcPts val="0"/>
              </a:spcBef>
              <a:spcAft>
                <a:spcPts val="0"/>
              </a:spcAft>
              <a:buClr>
                <a:schemeClr val="lt1"/>
              </a:buClr>
              <a:buSzPts val="6800"/>
              <a:buNone/>
              <a:defRPr sz="6800">
                <a:solidFill>
                  <a:schemeClr val="lt1"/>
                </a:solidFill>
              </a:defRPr>
            </a:lvl9pPr>
          </a:lstStyle>
          <a:p/>
        </p:txBody>
      </p:sp>
      <p:sp>
        <p:nvSpPr>
          <p:cNvPr id="28" name="Google Shape;28;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11000"/>
              <a:buNone/>
              <a:defRPr sz="11000">
                <a:solidFill>
                  <a:schemeClr val="dk1"/>
                </a:solidFill>
              </a:defRPr>
            </a:lvl1pPr>
            <a:lvl2pPr lvl="1" algn="ctr">
              <a:lnSpc>
                <a:spcPct val="100000"/>
              </a:lnSpc>
              <a:spcBef>
                <a:spcPts val="0"/>
              </a:spcBef>
              <a:spcAft>
                <a:spcPts val="0"/>
              </a:spcAft>
              <a:buClr>
                <a:schemeClr val="dk1"/>
              </a:buClr>
              <a:buSzPts val="11000"/>
              <a:buNone/>
              <a:defRPr sz="11000">
                <a:solidFill>
                  <a:schemeClr val="dk1"/>
                </a:solidFill>
              </a:defRPr>
            </a:lvl2pPr>
            <a:lvl3pPr lvl="2" algn="ctr">
              <a:lnSpc>
                <a:spcPct val="100000"/>
              </a:lnSpc>
              <a:spcBef>
                <a:spcPts val="0"/>
              </a:spcBef>
              <a:spcAft>
                <a:spcPts val="0"/>
              </a:spcAft>
              <a:buClr>
                <a:schemeClr val="dk1"/>
              </a:buClr>
              <a:buSzPts val="11000"/>
              <a:buNone/>
              <a:defRPr sz="11000">
                <a:solidFill>
                  <a:schemeClr val="dk1"/>
                </a:solidFill>
              </a:defRPr>
            </a:lvl3pPr>
            <a:lvl4pPr lvl="3" algn="ctr">
              <a:lnSpc>
                <a:spcPct val="100000"/>
              </a:lnSpc>
              <a:spcBef>
                <a:spcPts val="0"/>
              </a:spcBef>
              <a:spcAft>
                <a:spcPts val="0"/>
              </a:spcAft>
              <a:buClr>
                <a:schemeClr val="dk1"/>
              </a:buClr>
              <a:buSzPts val="11000"/>
              <a:buNone/>
              <a:defRPr sz="11000">
                <a:solidFill>
                  <a:schemeClr val="dk1"/>
                </a:solidFill>
              </a:defRPr>
            </a:lvl4pPr>
            <a:lvl5pPr lvl="4" algn="ctr">
              <a:lnSpc>
                <a:spcPct val="100000"/>
              </a:lnSpc>
              <a:spcBef>
                <a:spcPts val="0"/>
              </a:spcBef>
              <a:spcAft>
                <a:spcPts val="0"/>
              </a:spcAft>
              <a:buClr>
                <a:schemeClr val="dk1"/>
              </a:buClr>
              <a:buSzPts val="11000"/>
              <a:buNone/>
              <a:defRPr sz="11000">
                <a:solidFill>
                  <a:schemeClr val="dk1"/>
                </a:solidFill>
              </a:defRPr>
            </a:lvl5pPr>
            <a:lvl6pPr lvl="5" algn="ctr">
              <a:lnSpc>
                <a:spcPct val="100000"/>
              </a:lnSpc>
              <a:spcBef>
                <a:spcPts val="0"/>
              </a:spcBef>
              <a:spcAft>
                <a:spcPts val="0"/>
              </a:spcAft>
              <a:buClr>
                <a:schemeClr val="dk1"/>
              </a:buClr>
              <a:buSzPts val="11000"/>
              <a:buNone/>
              <a:defRPr sz="11000">
                <a:solidFill>
                  <a:schemeClr val="dk1"/>
                </a:solidFill>
              </a:defRPr>
            </a:lvl6pPr>
            <a:lvl7pPr lvl="6" algn="ctr">
              <a:lnSpc>
                <a:spcPct val="100000"/>
              </a:lnSpc>
              <a:spcBef>
                <a:spcPts val="0"/>
              </a:spcBef>
              <a:spcAft>
                <a:spcPts val="0"/>
              </a:spcAft>
              <a:buClr>
                <a:schemeClr val="dk1"/>
              </a:buClr>
              <a:buSzPts val="11000"/>
              <a:buNone/>
              <a:defRPr sz="11000">
                <a:solidFill>
                  <a:schemeClr val="dk1"/>
                </a:solidFill>
              </a:defRPr>
            </a:lvl7pPr>
            <a:lvl8pPr lvl="7" algn="ctr">
              <a:lnSpc>
                <a:spcPct val="100000"/>
              </a:lnSpc>
              <a:spcBef>
                <a:spcPts val="0"/>
              </a:spcBef>
              <a:spcAft>
                <a:spcPts val="0"/>
              </a:spcAft>
              <a:buClr>
                <a:schemeClr val="dk1"/>
              </a:buClr>
              <a:buSzPts val="11000"/>
              <a:buNone/>
              <a:defRPr sz="11000">
                <a:solidFill>
                  <a:schemeClr val="dk1"/>
                </a:solidFill>
              </a:defRPr>
            </a:lvl8pPr>
            <a:lvl9pPr lvl="8" algn="ctr">
              <a:lnSpc>
                <a:spcPct val="100000"/>
              </a:lnSpc>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1pPr>
            <a:lvl2pPr lvl="1"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2pPr>
            <a:lvl3pPr lvl="2"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3pPr>
            <a:lvl4pPr lvl="3"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4pPr>
            <a:lvl5pPr lvl="4"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5pPr>
            <a:lvl6pPr lvl="5"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6pPr>
            <a:lvl7pPr lvl="6"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7pPr>
            <a:lvl8pPr lvl="7"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8pPr>
            <a:lvl9pPr lvl="8"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Proxima Nova"/>
              <a:buChar char="●"/>
              <a:defRPr b="0" i="0" sz="1800" u="none" cap="none" strike="noStrike">
                <a:solidFill>
                  <a:schemeClr val="dk2"/>
                </a:solidFill>
                <a:latin typeface="Proxima Nova"/>
                <a:ea typeface="Proxima Nova"/>
                <a:cs typeface="Proxima Nova"/>
                <a:sym typeface="Proxima Nova"/>
              </a:defRPr>
            </a:lvl1pPr>
            <a:lvl2pPr indent="-317500" lvl="1" marL="9144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2pPr>
            <a:lvl3pPr indent="-317500" lvl="2" marL="13716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3pPr>
            <a:lvl4pPr indent="-317500" lvl="3" marL="18288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4pPr>
            <a:lvl5pPr indent="-317500" lvl="4" marL="22860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5pPr>
            <a:lvl6pPr indent="-317500" lvl="5" marL="27432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6pPr>
            <a:lvl7pPr indent="-317500" lvl="6" marL="32004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7pPr>
            <a:lvl8pPr indent="-317500" lvl="7" marL="36576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8pPr>
            <a:lvl9pPr indent="-317500" lvl="8" marL="41148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25625"/>
            <a:ext cx="8520600" cy="1282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5400"/>
              <a:buNone/>
            </a:pPr>
            <a:r>
              <a:rPr b="1" i="0" lang="en" sz="2400" u="none" strike="noStrike">
                <a:solidFill>
                  <a:srgbClr val="FF0000"/>
                </a:solidFill>
                <a:latin typeface="Times New Roman"/>
                <a:ea typeface="Times New Roman"/>
                <a:cs typeface="Times New Roman"/>
                <a:sym typeface="Times New Roman"/>
              </a:rPr>
              <a:t>Smart Urban Traffic Optimization for Emergency Services and Prioritization System</a:t>
            </a:r>
            <a:br>
              <a:rPr b="0" lang="en" sz="6000"/>
            </a:br>
            <a:r>
              <a:rPr b="1" lang="en" sz="2000">
                <a:solidFill>
                  <a:srgbClr val="002F4A"/>
                </a:solidFill>
                <a:latin typeface="Times New Roman"/>
                <a:ea typeface="Times New Roman"/>
                <a:cs typeface="Times New Roman"/>
                <a:sym typeface="Times New Roman"/>
              </a:rPr>
              <a:t>Inhouse Project</a:t>
            </a:r>
            <a:endParaRPr b="1" sz="2000">
              <a:solidFill>
                <a:srgbClr val="002F4A"/>
              </a:solidFill>
              <a:latin typeface="Times New Roman"/>
              <a:ea typeface="Times New Roman"/>
              <a:cs typeface="Times New Roman"/>
              <a:sym typeface="Times New Roman"/>
            </a:endParaRPr>
          </a:p>
          <a:p>
            <a:pPr indent="0" lvl="0" marL="0" rtl="0" algn="ctr">
              <a:lnSpc>
                <a:spcPct val="100000"/>
              </a:lnSpc>
              <a:spcBef>
                <a:spcPts val="0"/>
              </a:spcBef>
              <a:spcAft>
                <a:spcPts val="0"/>
              </a:spcAft>
              <a:buSzPts val="3600"/>
              <a:buNone/>
            </a:pPr>
            <a:r>
              <a:rPr b="1" lang="en" sz="2000">
                <a:solidFill>
                  <a:srgbClr val="002F4A"/>
                </a:solidFill>
                <a:latin typeface="Times New Roman"/>
                <a:ea typeface="Times New Roman"/>
                <a:cs typeface="Times New Roman"/>
                <a:sym typeface="Times New Roman"/>
              </a:rPr>
              <a:t>Review - III / Sem 6</a:t>
            </a:r>
            <a:endParaRPr b="1" sz="2000">
              <a:solidFill>
                <a:srgbClr val="002F4A"/>
              </a:solidFill>
              <a:latin typeface="Times New Roman"/>
              <a:ea typeface="Times New Roman"/>
              <a:cs typeface="Times New Roman"/>
              <a:sym typeface="Times New Roman"/>
            </a:endParaRPr>
          </a:p>
        </p:txBody>
      </p:sp>
      <p:sp>
        <p:nvSpPr>
          <p:cNvPr id="57" name="Google Shape;57;p13"/>
          <p:cNvSpPr txBox="1"/>
          <p:nvPr>
            <p:ph idx="1" type="subTitle"/>
          </p:nvPr>
        </p:nvSpPr>
        <p:spPr>
          <a:xfrm>
            <a:off x="311700" y="3921727"/>
            <a:ext cx="8520600" cy="73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b="1" lang="en" sz="1800">
                <a:solidFill>
                  <a:srgbClr val="151515"/>
                </a:solidFill>
                <a:latin typeface="Times New Roman"/>
                <a:ea typeface="Times New Roman"/>
                <a:cs typeface="Times New Roman"/>
                <a:sym typeface="Times New Roman"/>
              </a:rPr>
              <a:t>Project Mentor : Mrs. Pallavi Saindane</a:t>
            </a:r>
            <a:endParaRPr b="1" sz="1800">
              <a:solidFill>
                <a:srgbClr val="151515"/>
              </a:solidFill>
              <a:latin typeface="Times New Roman"/>
              <a:ea typeface="Times New Roman"/>
              <a:cs typeface="Times New Roman"/>
              <a:sym typeface="Times New Roman"/>
            </a:endParaRPr>
          </a:p>
        </p:txBody>
      </p:sp>
      <p:sp>
        <p:nvSpPr>
          <p:cNvPr id="58" name="Google Shape;58;p13"/>
          <p:cNvSpPr txBox="1"/>
          <p:nvPr/>
        </p:nvSpPr>
        <p:spPr>
          <a:xfrm>
            <a:off x="4818444" y="3461336"/>
            <a:ext cx="5657100" cy="227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151515"/>
                </a:solidFill>
                <a:latin typeface="Times New Roman"/>
                <a:ea typeface="Times New Roman"/>
                <a:cs typeface="Times New Roman"/>
                <a:sym typeface="Times New Roman"/>
              </a:rPr>
              <a:t>Group Number</a:t>
            </a:r>
            <a:r>
              <a:rPr b="0" i="0" lang="en" sz="1400" u="none" cap="none" strike="noStrike">
                <a:solidFill>
                  <a:srgbClr val="151515"/>
                </a:solidFill>
                <a:latin typeface="Times New Roman"/>
                <a:ea typeface="Times New Roman"/>
                <a:cs typeface="Times New Roman"/>
                <a:sym typeface="Times New Roman"/>
              </a:rPr>
              <a:t> : 43</a:t>
            </a:r>
            <a:endParaRPr b="0" i="0" sz="1400" u="none" cap="none" strike="noStrike">
              <a:solidFill>
                <a:srgbClr val="151515"/>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151515"/>
                </a:solidFill>
                <a:latin typeface="Times New Roman"/>
                <a:ea typeface="Times New Roman"/>
                <a:cs typeface="Times New Roman"/>
                <a:sym typeface="Times New Roman"/>
              </a:rPr>
              <a:t>Group Members</a:t>
            </a:r>
            <a:r>
              <a:rPr b="0" i="0" lang="en" sz="1400" u="none" cap="none" strike="noStrike">
                <a:solidFill>
                  <a:srgbClr val="151515"/>
                </a:solidFill>
                <a:latin typeface="Times New Roman"/>
                <a:ea typeface="Times New Roman"/>
                <a:cs typeface="Times New Roman"/>
                <a:sym typeface="Times New Roman"/>
              </a:rPr>
              <a:t> :   Atharva Hande -      67 / D12B</a:t>
            </a:r>
            <a:endParaRPr b="0" i="0" sz="1400" u="none" cap="none" strike="noStrike">
              <a:solidFill>
                <a:srgbClr val="151515"/>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51515"/>
                </a:solidFill>
                <a:latin typeface="Times New Roman"/>
                <a:ea typeface="Times New Roman"/>
                <a:cs typeface="Times New Roman"/>
                <a:sym typeface="Times New Roman"/>
              </a:rPr>
              <a:t>	             	   Aryan Surve -          67 / D12A</a:t>
            </a:r>
            <a:endParaRPr b="0" i="0" sz="1400" u="none" cap="none" strike="noStrike">
              <a:solidFill>
                <a:srgbClr val="151515"/>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51515"/>
                </a:solidFill>
                <a:latin typeface="Times New Roman"/>
                <a:ea typeface="Times New Roman"/>
                <a:cs typeface="Times New Roman"/>
                <a:sym typeface="Times New Roman"/>
              </a:rPr>
              <a:t>	            	   Tarunkumar Gatla - 71 / D12A</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51515"/>
                </a:solidFill>
                <a:latin typeface="Times New Roman"/>
                <a:ea typeface="Times New Roman"/>
                <a:cs typeface="Times New Roman"/>
                <a:sym typeface="Times New Roman"/>
              </a:rPr>
              <a:t>	             	   Sanchet Khemani -  21 / D12B</a:t>
            </a:r>
            <a:endParaRPr b="0" i="0" sz="1400" u="none" cap="none" strike="noStrike">
              <a:solidFill>
                <a:srgbClr val="151515"/>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br>
              <a:rPr b="0" i="0" lang="en" sz="1400" u="none" cap="none" strike="noStrike">
                <a:solidFill>
                  <a:srgbClr val="151515"/>
                </a:solidFill>
                <a:latin typeface="Times New Roman"/>
                <a:ea typeface="Times New Roman"/>
                <a:cs typeface="Times New Roman"/>
                <a:sym typeface="Times New Roman"/>
              </a:rPr>
            </a:br>
            <a:endParaRPr b="0" i="0" sz="1400" u="none" cap="none" strike="noStrike">
              <a:solidFill>
                <a:srgbClr val="151515"/>
              </a:solidFill>
              <a:latin typeface="Times New Roman"/>
              <a:ea typeface="Times New Roman"/>
              <a:cs typeface="Times New Roman"/>
              <a:sym typeface="Times New Roman"/>
            </a:endParaRPr>
          </a:p>
        </p:txBody>
      </p:sp>
      <p:pic>
        <p:nvPicPr>
          <p:cNvPr id="59" name="Google Shape;59;p13"/>
          <p:cNvPicPr preferRelativeResize="0"/>
          <p:nvPr/>
        </p:nvPicPr>
        <p:blipFill rotWithShape="1">
          <a:blip r:embed="rId3">
            <a:alphaModFix/>
          </a:blip>
          <a:srcRect b="0" l="0" r="0" t="0"/>
          <a:stretch/>
        </p:blipFill>
        <p:spPr>
          <a:xfrm>
            <a:off x="3776669" y="1831123"/>
            <a:ext cx="1151750" cy="1701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200"/>
              <a:t>Content</a:t>
            </a:r>
            <a:endParaRPr sz="3200"/>
          </a:p>
        </p:txBody>
      </p:sp>
      <p:sp>
        <p:nvSpPr>
          <p:cNvPr id="65" name="Google Shape;65;p14"/>
          <p:cNvSpPr txBox="1"/>
          <p:nvPr>
            <p:ph idx="1" type="body"/>
          </p:nvPr>
        </p:nvSpPr>
        <p:spPr>
          <a:xfrm>
            <a:off x="311700" y="1152475"/>
            <a:ext cx="7623900" cy="34434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00000"/>
              </a:buClr>
              <a:buSzPts val="1500"/>
              <a:buFont typeface="Book Antiqua"/>
              <a:buAutoNum type="romanUcPeriod"/>
            </a:pPr>
            <a:r>
              <a:rPr lang="en" sz="1600">
                <a:solidFill>
                  <a:srgbClr val="000000"/>
                </a:solidFill>
                <a:latin typeface="Book Antiqua"/>
                <a:ea typeface="Book Antiqua"/>
                <a:cs typeface="Book Antiqua"/>
                <a:sym typeface="Book Antiqua"/>
              </a:rPr>
              <a:t>Introduction to Project</a:t>
            </a:r>
            <a:endParaRPr sz="1600">
              <a:solidFill>
                <a:srgbClr val="000000"/>
              </a:solidFill>
              <a:latin typeface="Book Antiqua"/>
              <a:ea typeface="Book Antiqua"/>
              <a:cs typeface="Book Antiqua"/>
              <a:sym typeface="Book Antiqua"/>
            </a:endParaRPr>
          </a:p>
          <a:p>
            <a:pPr indent="-323850" lvl="0" marL="457200" rtl="0" algn="l">
              <a:lnSpc>
                <a:spcPct val="115000"/>
              </a:lnSpc>
              <a:spcBef>
                <a:spcPts val="0"/>
              </a:spcBef>
              <a:spcAft>
                <a:spcPts val="0"/>
              </a:spcAft>
              <a:buClr>
                <a:srgbClr val="000000"/>
              </a:buClr>
              <a:buSzPts val="1500"/>
              <a:buFont typeface="Book Antiqua"/>
              <a:buAutoNum type="romanUcPeriod"/>
            </a:pPr>
            <a:r>
              <a:rPr lang="en" sz="1600">
                <a:solidFill>
                  <a:srgbClr val="000000"/>
                </a:solidFill>
                <a:latin typeface="Book Antiqua"/>
                <a:ea typeface="Book Antiqua"/>
                <a:cs typeface="Book Antiqua"/>
                <a:sym typeface="Book Antiqua"/>
              </a:rPr>
              <a:t>Lacuna in the existing systems</a:t>
            </a:r>
            <a:endParaRPr sz="1600">
              <a:solidFill>
                <a:srgbClr val="000000"/>
              </a:solidFill>
              <a:latin typeface="Book Antiqua"/>
              <a:ea typeface="Book Antiqua"/>
              <a:cs typeface="Book Antiqua"/>
              <a:sym typeface="Book Antiqua"/>
            </a:endParaRPr>
          </a:p>
          <a:p>
            <a:pPr indent="-323850" lvl="0" marL="457200" rtl="0" algn="l">
              <a:lnSpc>
                <a:spcPct val="115000"/>
              </a:lnSpc>
              <a:spcBef>
                <a:spcPts val="0"/>
              </a:spcBef>
              <a:spcAft>
                <a:spcPts val="0"/>
              </a:spcAft>
              <a:buClr>
                <a:srgbClr val="000000"/>
              </a:buClr>
              <a:buSzPts val="1500"/>
              <a:buFont typeface="Book Antiqua"/>
              <a:buAutoNum type="romanUcPeriod"/>
            </a:pPr>
            <a:r>
              <a:rPr lang="en" sz="1600">
                <a:solidFill>
                  <a:srgbClr val="000000"/>
                </a:solidFill>
                <a:latin typeface="Book Antiqua"/>
                <a:ea typeface="Book Antiqua"/>
                <a:cs typeface="Book Antiqua"/>
                <a:sym typeface="Book Antiqua"/>
              </a:rPr>
              <a:t>Problem Definition</a:t>
            </a:r>
            <a:endParaRPr sz="1600">
              <a:solidFill>
                <a:srgbClr val="000000"/>
              </a:solidFill>
              <a:latin typeface="Book Antiqua"/>
              <a:ea typeface="Book Antiqua"/>
              <a:cs typeface="Book Antiqua"/>
              <a:sym typeface="Book Antiqua"/>
            </a:endParaRPr>
          </a:p>
          <a:p>
            <a:pPr indent="-323850" lvl="0" marL="457200" rtl="0" algn="l">
              <a:lnSpc>
                <a:spcPct val="115000"/>
              </a:lnSpc>
              <a:spcBef>
                <a:spcPts val="0"/>
              </a:spcBef>
              <a:spcAft>
                <a:spcPts val="0"/>
              </a:spcAft>
              <a:buClr>
                <a:srgbClr val="000000"/>
              </a:buClr>
              <a:buSzPts val="1500"/>
              <a:buFont typeface="Book Antiqua"/>
              <a:buAutoNum type="romanUcPeriod"/>
            </a:pPr>
            <a:r>
              <a:rPr lang="en" sz="1600">
                <a:solidFill>
                  <a:srgbClr val="000000"/>
                </a:solidFill>
                <a:latin typeface="Book Antiqua"/>
                <a:ea typeface="Book Antiqua"/>
                <a:cs typeface="Book Antiqua"/>
                <a:sym typeface="Book Antiqua"/>
              </a:rPr>
              <a:t>Literature Survey</a:t>
            </a:r>
            <a:endParaRPr sz="1600">
              <a:solidFill>
                <a:srgbClr val="000000"/>
              </a:solidFill>
              <a:latin typeface="Book Antiqua"/>
              <a:ea typeface="Book Antiqua"/>
              <a:cs typeface="Book Antiqua"/>
              <a:sym typeface="Book Antiqua"/>
            </a:endParaRPr>
          </a:p>
          <a:p>
            <a:pPr indent="-323850" lvl="0" marL="457200" rtl="0" algn="l">
              <a:lnSpc>
                <a:spcPct val="115000"/>
              </a:lnSpc>
              <a:spcBef>
                <a:spcPts val="0"/>
              </a:spcBef>
              <a:spcAft>
                <a:spcPts val="0"/>
              </a:spcAft>
              <a:buClr>
                <a:srgbClr val="000000"/>
              </a:buClr>
              <a:buSzPts val="1500"/>
              <a:buFont typeface="Book Antiqua"/>
              <a:buAutoNum type="romanUcPeriod"/>
            </a:pPr>
            <a:r>
              <a:rPr lang="en" sz="1600">
                <a:solidFill>
                  <a:srgbClr val="000000"/>
                </a:solidFill>
                <a:latin typeface="Book Antiqua"/>
                <a:ea typeface="Book Antiqua"/>
                <a:cs typeface="Book Antiqua"/>
                <a:sym typeface="Book Antiqua"/>
              </a:rPr>
              <a:t>Methodology employed</a:t>
            </a:r>
            <a:endParaRPr sz="1600">
              <a:solidFill>
                <a:srgbClr val="000000"/>
              </a:solidFill>
              <a:latin typeface="Book Antiqua"/>
              <a:ea typeface="Book Antiqua"/>
              <a:cs typeface="Book Antiqua"/>
              <a:sym typeface="Book Antiqua"/>
            </a:endParaRPr>
          </a:p>
          <a:p>
            <a:pPr indent="-330200" lvl="0" marL="457200" rtl="0" algn="l">
              <a:lnSpc>
                <a:spcPct val="115000"/>
              </a:lnSpc>
              <a:spcBef>
                <a:spcPts val="0"/>
              </a:spcBef>
              <a:spcAft>
                <a:spcPts val="0"/>
              </a:spcAft>
              <a:buClr>
                <a:srgbClr val="000000"/>
              </a:buClr>
              <a:buSzPts val="1600"/>
              <a:buFont typeface="Book Antiqua"/>
              <a:buAutoNum type="romanUcPeriod"/>
            </a:pPr>
            <a:r>
              <a:rPr lang="en" sz="1600">
                <a:solidFill>
                  <a:srgbClr val="000000"/>
                </a:solidFill>
                <a:latin typeface="Book Antiqua"/>
                <a:ea typeface="Book Antiqua"/>
                <a:cs typeface="Book Antiqua"/>
                <a:sym typeface="Book Antiqua"/>
              </a:rPr>
              <a:t>Algorithms used in Smart Traffic Signalling S</a:t>
            </a:r>
            <a:r>
              <a:rPr lang="en" sz="1600">
                <a:solidFill>
                  <a:srgbClr val="000000"/>
                </a:solidFill>
                <a:latin typeface="Book Antiqua"/>
                <a:ea typeface="Book Antiqua"/>
                <a:cs typeface="Book Antiqua"/>
                <a:sym typeface="Book Antiqua"/>
              </a:rPr>
              <a:t>ystem</a:t>
            </a:r>
            <a:r>
              <a:rPr lang="en" sz="1600">
                <a:solidFill>
                  <a:srgbClr val="000000"/>
                </a:solidFill>
                <a:latin typeface="Book Antiqua"/>
                <a:ea typeface="Book Antiqua"/>
                <a:cs typeface="Book Antiqua"/>
                <a:sym typeface="Book Antiqua"/>
              </a:rPr>
              <a:t> </a:t>
            </a:r>
            <a:endParaRPr sz="1600">
              <a:solidFill>
                <a:srgbClr val="000000"/>
              </a:solidFill>
              <a:latin typeface="Book Antiqua"/>
              <a:ea typeface="Book Antiqua"/>
              <a:cs typeface="Book Antiqua"/>
              <a:sym typeface="Book Antiqua"/>
            </a:endParaRPr>
          </a:p>
          <a:p>
            <a:pPr indent="-330200" lvl="0" marL="457200" rtl="0" algn="l">
              <a:lnSpc>
                <a:spcPct val="115000"/>
              </a:lnSpc>
              <a:spcBef>
                <a:spcPts val="0"/>
              </a:spcBef>
              <a:spcAft>
                <a:spcPts val="0"/>
              </a:spcAft>
              <a:buClr>
                <a:srgbClr val="000000"/>
              </a:buClr>
              <a:buSzPts val="1600"/>
              <a:buFont typeface="Book Antiqua"/>
              <a:buAutoNum type="romanUcPeriod"/>
            </a:pPr>
            <a:r>
              <a:rPr lang="en" sz="1600">
                <a:solidFill>
                  <a:srgbClr val="000000"/>
                </a:solidFill>
                <a:latin typeface="Book Antiqua"/>
                <a:ea typeface="Book Antiqua"/>
                <a:cs typeface="Book Antiqua"/>
                <a:sym typeface="Book Antiqua"/>
              </a:rPr>
              <a:t>Difference between yolo version</a:t>
            </a:r>
            <a:endParaRPr sz="1600">
              <a:solidFill>
                <a:srgbClr val="000000"/>
              </a:solidFill>
              <a:latin typeface="Book Antiqua"/>
              <a:ea typeface="Book Antiqua"/>
              <a:cs typeface="Book Antiqua"/>
              <a:sym typeface="Book Antiqua"/>
            </a:endParaRPr>
          </a:p>
          <a:p>
            <a:pPr indent="-323850" lvl="0" marL="457200" rtl="0" algn="l">
              <a:lnSpc>
                <a:spcPct val="115000"/>
              </a:lnSpc>
              <a:spcBef>
                <a:spcPts val="0"/>
              </a:spcBef>
              <a:spcAft>
                <a:spcPts val="0"/>
              </a:spcAft>
              <a:buClr>
                <a:srgbClr val="000000"/>
              </a:buClr>
              <a:buSzPts val="1500"/>
              <a:buFont typeface="Book Antiqua"/>
              <a:buAutoNum type="romanUcPeriod"/>
            </a:pPr>
            <a:r>
              <a:rPr lang="en" sz="1600">
                <a:solidFill>
                  <a:srgbClr val="000000"/>
                </a:solidFill>
                <a:latin typeface="Book Antiqua"/>
                <a:ea typeface="Book Antiqua"/>
                <a:cs typeface="Book Antiqua"/>
                <a:sym typeface="Book Antiqua"/>
              </a:rPr>
              <a:t>Hardware, Software, tools and the constraints</a:t>
            </a:r>
            <a:endParaRPr sz="1600">
              <a:solidFill>
                <a:srgbClr val="000000"/>
              </a:solidFill>
              <a:latin typeface="Book Antiqua"/>
              <a:ea typeface="Book Antiqua"/>
              <a:cs typeface="Book Antiqua"/>
              <a:sym typeface="Book Antiqua"/>
            </a:endParaRPr>
          </a:p>
          <a:p>
            <a:pPr indent="-323850" lvl="0" marL="457200" rtl="0" algn="l">
              <a:lnSpc>
                <a:spcPct val="115000"/>
              </a:lnSpc>
              <a:spcBef>
                <a:spcPts val="0"/>
              </a:spcBef>
              <a:spcAft>
                <a:spcPts val="0"/>
              </a:spcAft>
              <a:buClr>
                <a:srgbClr val="000000"/>
              </a:buClr>
              <a:buSzPts val="1500"/>
              <a:buFont typeface="Book Antiqua"/>
              <a:buAutoNum type="romanUcPeriod"/>
            </a:pPr>
            <a:r>
              <a:rPr lang="en" sz="1600">
                <a:solidFill>
                  <a:srgbClr val="000000"/>
                </a:solidFill>
                <a:latin typeface="Book Antiqua"/>
                <a:ea typeface="Book Antiqua"/>
                <a:cs typeface="Book Antiqua"/>
                <a:sym typeface="Book Antiqua"/>
              </a:rPr>
              <a:t>Block Diagram</a:t>
            </a:r>
            <a:endParaRPr sz="1600">
              <a:solidFill>
                <a:srgbClr val="000000"/>
              </a:solidFill>
              <a:latin typeface="Book Antiqua"/>
              <a:ea typeface="Book Antiqua"/>
              <a:cs typeface="Book Antiqua"/>
              <a:sym typeface="Book Antiqua"/>
            </a:endParaRPr>
          </a:p>
          <a:p>
            <a:pPr indent="-323850" lvl="0" marL="457200" rtl="0" algn="l">
              <a:lnSpc>
                <a:spcPct val="115000"/>
              </a:lnSpc>
              <a:spcBef>
                <a:spcPts val="0"/>
              </a:spcBef>
              <a:spcAft>
                <a:spcPts val="0"/>
              </a:spcAft>
              <a:buClr>
                <a:srgbClr val="000000"/>
              </a:buClr>
              <a:buSzPts val="1500"/>
              <a:buFont typeface="Book Antiqua"/>
              <a:buAutoNum type="romanUcPeriod"/>
            </a:pPr>
            <a:r>
              <a:rPr lang="en" sz="1600">
                <a:solidFill>
                  <a:srgbClr val="000000"/>
                </a:solidFill>
                <a:latin typeface="Book Antiqua"/>
                <a:ea typeface="Book Antiqua"/>
                <a:cs typeface="Book Antiqua"/>
                <a:sym typeface="Book Antiqua"/>
              </a:rPr>
              <a:t>Modular Diagram</a:t>
            </a:r>
            <a:endParaRPr sz="1600">
              <a:solidFill>
                <a:srgbClr val="000000"/>
              </a:solidFill>
              <a:latin typeface="Book Antiqua"/>
              <a:ea typeface="Book Antiqua"/>
              <a:cs typeface="Book Antiqua"/>
              <a:sym typeface="Book Antiqua"/>
            </a:endParaRPr>
          </a:p>
          <a:p>
            <a:pPr indent="-330200" lvl="0" marL="457200" rtl="0" algn="l">
              <a:lnSpc>
                <a:spcPct val="115000"/>
              </a:lnSpc>
              <a:spcBef>
                <a:spcPts val="0"/>
              </a:spcBef>
              <a:spcAft>
                <a:spcPts val="0"/>
              </a:spcAft>
              <a:buClr>
                <a:srgbClr val="000000"/>
              </a:buClr>
              <a:buSzPts val="1600"/>
              <a:buFont typeface="Book Antiqua"/>
              <a:buAutoNum type="romanUcPeriod"/>
            </a:pPr>
            <a:r>
              <a:rPr lang="en" sz="1600">
                <a:solidFill>
                  <a:srgbClr val="000000"/>
                </a:solidFill>
                <a:latin typeface="Book Antiqua"/>
                <a:ea typeface="Book Antiqua"/>
                <a:cs typeface="Book Antiqua"/>
                <a:sym typeface="Book Antiqua"/>
              </a:rPr>
              <a:t>Detailed Architecture</a:t>
            </a:r>
            <a:endParaRPr sz="1600">
              <a:solidFill>
                <a:srgbClr val="000000"/>
              </a:solidFill>
              <a:latin typeface="Book Antiqua"/>
              <a:ea typeface="Book Antiqua"/>
              <a:cs typeface="Book Antiqua"/>
              <a:sym typeface="Book Antiqua"/>
            </a:endParaRPr>
          </a:p>
          <a:p>
            <a:pPr indent="-323850" lvl="0" marL="457200" rtl="0" algn="l">
              <a:lnSpc>
                <a:spcPct val="115000"/>
              </a:lnSpc>
              <a:spcBef>
                <a:spcPts val="0"/>
              </a:spcBef>
              <a:spcAft>
                <a:spcPts val="0"/>
              </a:spcAft>
              <a:buClr>
                <a:srgbClr val="000000"/>
              </a:buClr>
              <a:buSzPts val="1500"/>
              <a:buFont typeface="Book Antiqua"/>
              <a:buAutoNum type="romanUcPeriod"/>
            </a:pPr>
            <a:r>
              <a:rPr lang="en" sz="1600">
                <a:solidFill>
                  <a:srgbClr val="000000"/>
                </a:solidFill>
                <a:latin typeface="Book Antiqua"/>
                <a:ea typeface="Book Antiqua"/>
                <a:cs typeface="Book Antiqua"/>
                <a:sym typeface="Book Antiqua"/>
              </a:rPr>
              <a:t>Conclusion</a:t>
            </a:r>
            <a:endParaRPr sz="1600">
              <a:solidFill>
                <a:srgbClr val="000000"/>
              </a:solidFill>
              <a:latin typeface="Book Antiqua"/>
              <a:ea typeface="Book Antiqua"/>
              <a:cs typeface="Book Antiqua"/>
              <a:sym typeface="Book Antiqua"/>
            </a:endParaRPr>
          </a:p>
          <a:p>
            <a:pPr indent="-323850" lvl="0" marL="457200" rtl="0" algn="l">
              <a:lnSpc>
                <a:spcPct val="115000"/>
              </a:lnSpc>
              <a:spcBef>
                <a:spcPts val="0"/>
              </a:spcBef>
              <a:spcAft>
                <a:spcPts val="0"/>
              </a:spcAft>
              <a:buClr>
                <a:srgbClr val="000000"/>
              </a:buClr>
              <a:buSzPts val="1500"/>
              <a:buFont typeface="Book Antiqua"/>
              <a:buAutoNum type="romanUcPeriod"/>
            </a:pPr>
            <a:r>
              <a:rPr lang="en" sz="1600">
                <a:solidFill>
                  <a:srgbClr val="000000"/>
                </a:solidFill>
                <a:latin typeface="Book Antiqua"/>
                <a:ea typeface="Book Antiqua"/>
                <a:cs typeface="Book Antiqua"/>
                <a:sym typeface="Book Antiqua"/>
              </a:rPr>
              <a:t>References</a:t>
            </a:r>
            <a:endParaRPr sz="1600">
              <a:solidFill>
                <a:srgbClr val="000000"/>
              </a:solidFill>
              <a:latin typeface="Book Antiqua"/>
              <a:ea typeface="Book Antiqua"/>
              <a:cs typeface="Book Antiqua"/>
              <a:sym typeface="Book Antiqu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200"/>
              <a:t>Introduction to Project</a:t>
            </a:r>
            <a:endParaRPr sz="3200"/>
          </a:p>
          <a:p>
            <a:pPr indent="0" lvl="0" marL="0" rtl="0" algn="l">
              <a:lnSpc>
                <a:spcPct val="100000"/>
              </a:lnSpc>
              <a:spcBef>
                <a:spcPts val="0"/>
              </a:spcBef>
              <a:spcAft>
                <a:spcPts val="0"/>
              </a:spcAft>
              <a:buSzPts val="2800"/>
              <a:buNone/>
            </a:pPr>
            <a:r>
              <a:t/>
            </a:r>
            <a:endParaRPr/>
          </a:p>
          <a:p>
            <a:pPr indent="0" lvl="0" marL="0" rtl="0" algn="l">
              <a:lnSpc>
                <a:spcPct val="100000"/>
              </a:lnSpc>
              <a:spcBef>
                <a:spcPts val="0"/>
              </a:spcBef>
              <a:spcAft>
                <a:spcPts val="0"/>
              </a:spcAft>
              <a:buSzPts val="2800"/>
              <a:buNone/>
            </a:pPr>
            <a:r>
              <a:t/>
            </a:r>
            <a:endParaRPr/>
          </a:p>
        </p:txBody>
      </p:sp>
      <p:sp>
        <p:nvSpPr>
          <p:cNvPr id="71" name="Google Shape;71;p15"/>
          <p:cNvSpPr txBox="1"/>
          <p:nvPr>
            <p:ph idx="4294967295" type="body"/>
          </p:nvPr>
        </p:nvSpPr>
        <p:spPr>
          <a:xfrm>
            <a:off x="3615732" y="3507412"/>
            <a:ext cx="5216568" cy="1732733"/>
          </a:xfrm>
          <a:prstGeom prst="rect">
            <a:avLst/>
          </a:prstGeom>
          <a:noFill/>
          <a:ln>
            <a:noFill/>
          </a:ln>
        </p:spPr>
        <p:txBody>
          <a:bodyPr anchorCtr="0" anchor="t" bIns="91425" lIns="91425" spcFirstLastPara="1" rIns="91425" wrap="square" tIns="91425">
            <a:noAutofit/>
          </a:bodyPr>
          <a:lstStyle/>
          <a:p>
            <a:pPr indent="-228600" lvl="0" marL="457200" rtl="0" algn="just">
              <a:lnSpc>
                <a:spcPct val="115000"/>
              </a:lnSpc>
              <a:spcBef>
                <a:spcPts val="0"/>
              </a:spcBef>
              <a:spcAft>
                <a:spcPts val="0"/>
              </a:spcAft>
              <a:buClr>
                <a:srgbClr val="000000"/>
              </a:buClr>
              <a:buSzPts val="1400"/>
              <a:buNone/>
            </a:pPr>
            <a:r>
              <a:rPr b="0" i="0" lang="en" sz="1500" u="none" strike="noStrike">
                <a:solidFill>
                  <a:srgbClr val="000000"/>
                </a:solidFill>
                <a:latin typeface="Times New Roman"/>
                <a:ea typeface="Times New Roman"/>
                <a:cs typeface="Times New Roman"/>
                <a:sym typeface="Times New Roman"/>
              </a:rPr>
              <a:t>	</a:t>
            </a:r>
            <a:r>
              <a:rPr i="0" lang="en" sz="1500" u="none" strike="noStrike">
                <a:solidFill>
                  <a:srgbClr val="000000"/>
                </a:solidFill>
                <a:latin typeface="Book Antiqua"/>
                <a:ea typeface="Book Antiqua"/>
                <a:cs typeface="Book Antiqua"/>
                <a:sym typeface="Book Antiqua"/>
              </a:rPr>
              <a:t>This approach aims to prioritize emergency vehicles, reduce response times, and enhance overall traffic management, addressing the challenges of urban congestion effectively.</a:t>
            </a:r>
            <a:endParaRPr sz="1500">
              <a:solidFill>
                <a:srgbClr val="000000"/>
              </a:solidFill>
              <a:latin typeface="Book Antiqua"/>
              <a:ea typeface="Book Antiqua"/>
              <a:cs typeface="Book Antiqua"/>
              <a:sym typeface="Book Antiqua"/>
            </a:endParaRPr>
          </a:p>
        </p:txBody>
      </p:sp>
      <p:sp>
        <p:nvSpPr>
          <p:cNvPr id="72" name="Google Shape;72;p15"/>
          <p:cNvSpPr txBox="1"/>
          <p:nvPr/>
        </p:nvSpPr>
        <p:spPr>
          <a:xfrm>
            <a:off x="311700" y="1193045"/>
            <a:ext cx="3760500" cy="2139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500"/>
              <a:buFont typeface="Arial"/>
              <a:buNone/>
            </a:pPr>
            <a:r>
              <a:rPr i="0" lang="en" sz="1500" u="none" cap="none" strike="noStrike">
                <a:solidFill>
                  <a:srgbClr val="333333"/>
                </a:solidFill>
                <a:latin typeface="Book Antiqua"/>
                <a:ea typeface="Book Antiqua"/>
                <a:cs typeface="Book Antiqua"/>
                <a:sym typeface="Book Antiqua"/>
              </a:rPr>
              <a:t>In congested urban environments, optimizing traffic for emergency services is critical. The "Smart Urban Traffic Optimization for Emergency Services and Prioritization System" uses real time traffic videos to dynamically adjust traffic signals and manage flow. </a:t>
            </a:r>
            <a:endParaRPr i="0" sz="1500" u="none" cap="none" strike="noStrike">
              <a:solidFill>
                <a:srgbClr val="000000"/>
              </a:solidFill>
              <a:latin typeface="Book Antiqua"/>
              <a:ea typeface="Book Antiqua"/>
              <a:cs typeface="Book Antiqua"/>
              <a:sym typeface="Book Antiqua"/>
            </a:endParaRPr>
          </a:p>
          <a:p>
            <a:pPr indent="0" lvl="0" marL="0" marR="0" rtl="0" algn="l">
              <a:lnSpc>
                <a:spcPct val="100000"/>
              </a:lnSpc>
              <a:spcBef>
                <a:spcPts val="0"/>
              </a:spcBef>
              <a:spcAft>
                <a:spcPts val="0"/>
              </a:spcAft>
              <a:buClr>
                <a:srgbClr val="000000"/>
              </a:buClr>
              <a:buSzPts val="1400"/>
              <a:buFont typeface="Arial"/>
              <a:buNone/>
            </a:pP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id="73" name="Google Shape;73;p15"/>
          <p:cNvPicPr preferRelativeResize="0"/>
          <p:nvPr/>
        </p:nvPicPr>
        <p:blipFill rotWithShape="1">
          <a:blip r:embed="rId3">
            <a:alphaModFix/>
          </a:blip>
          <a:srcRect b="0" l="0" r="0" t="0"/>
          <a:stretch/>
        </p:blipFill>
        <p:spPr>
          <a:xfrm>
            <a:off x="611208" y="2936227"/>
            <a:ext cx="3004524" cy="2008023"/>
          </a:xfrm>
          <a:prstGeom prst="rect">
            <a:avLst/>
          </a:prstGeom>
          <a:noFill/>
          <a:ln>
            <a:noFill/>
          </a:ln>
        </p:spPr>
      </p:pic>
      <p:pic>
        <p:nvPicPr>
          <p:cNvPr id="74" name="Google Shape;74;p15"/>
          <p:cNvPicPr preferRelativeResize="0"/>
          <p:nvPr/>
        </p:nvPicPr>
        <p:blipFill rotWithShape="1">
          <a:blip r:embed="rId4">
            <a:alphaModFix/>
          </a:blip>
          <a:srcRect b="0" l="0" r="0" t="0"/>
          <a:stretch/>
        </p:blipFill>
        <p:spPr>
          <a:xfrm>
            <a:off x="4695122" y="1017725"/>
            <a:ext cx="3931116" cy="221125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Lacuna in the existing system</a:t>
            </a:r>
            <a:endParaRPr/>
          </a:p>
        </p:txBody>
      </p:sp>
      <p:sp>
        <p:nvSpPr>
          <p:cNvPr id="80" name="Google Shape;80;p16"/>
          <p:cNvSpPr txBox="1"/>
          <p:nvPr>
            <p:ph idx="1" type="body"/>
          </p:nvPr>
        </p:nvSpPr>
        <p:spPr>
          <a:xfrm>
            <a:off x="311700" y="3720744"/>
            <a:ext cx="8520600" cy="1368936"/>
          </a:xfrm>
          <a:prstGeom prst="rect">
            <a:avLst/>
          </a:prstGeom>
          <a:noFill/>
          <a:ln>
            <a:noFill/>
          </a:ln>
        </p:spPr>
        <p:txBody>
          <a:bodyPr anchorCtr="0" anchor="t" bIns="91425" lIns="91425" spcFirstLastPara="1" rIns="91425" wrap="square" tIns="91425">
            <a:noAutofit/>
          </a:bodyPr>
          <a:lstStyle/>
          <a:p>
            <a:pPr indent="-228600" lvl="0" marL="457200" rtl="0" algn="just">
              <a:lnSpc>
                <a:spcPct val="115000"/>
              </a:lnSpc>
              <a:spcBef>
                <a:spcPts val="0"/>
              </a:spcBef>
              <a:spcAft>
                <a:spcPts val="0"/>
              </a:spcAft>
              <a:buSzPts val="1600"/>
              <a:buNone/>
            </a:pPr>
            <a:r>
              <a:rPr lang="en" sz="1600">
                <a:solidFill>
                  <a:srgbClr val="151515"/>
                </a:solidFill>
                <a:latin typeface="Times New Roman"/>
                <a:ea typeface="Times New Roman"/>
                <a:cs typeface="Times New Roman"/>
                <a:sym typeface="Times New Roman"/>
              </a:rPr>
              <a:t>    The system lacks real-time adaptability to dynamic traffic conditions and seamless integration with emergency service networks. Additionally, it may face challenges in accurate vehicle prioritization and efficient rerouting</a:t>
            </a:r>
            <a:endParaRPr/>
          </a:p>
        </p:txBody>
      </p:sp>
      <p:pic>
        <p:nvPicPr>
          <p:cNvPr id="81" name="Google Shape;81;p16"/>
          <p:cNvPicPr preferRelativeResize="0"/>
          <p:nvPr/>
        </p:nvPicPr>
        <p:blipFill rotWithShape="1">
          <a:blip r:embed="rId3">
            <a:alphaModFix/>
          </a:blip>
          <a:srcRect b="0" l="0" r="0" t="0"/>
          <a:stretch/>
        </p:blipFill>
        <p:spPr>
          <a:xfrm>
            <a:off x="875225" y="1146176"/>
            <a:ext cx="1767772" cy="2360068"/>
          </a:xfrm>
          <a:prstGeom prst="rect">
            <a:avLst/>
          </a:prstGeom>
          <a:noFill/>
          <a:ln>
            <a:noFill/>
          </a:ln>
        </p:spPr>
      </p:pic>
      <p:pic>
        <p:nvPicPr>
          <p:cNvPr id="82" name="Google Shape;82;p16"/>
          <p:cNvPicPr preferRelativeResize="0"/>
          <p:nvPr/>
        </p:nvPicPr>
        <p:blipFill rotWithShape="1">
          <a:blip r:embed="rId4">
            <a:alphaModFix/>
          </a:blip>
          <a:srcRect b="0" l="0" r="0" t="0"/>
          <a:stretch/>
        </p:blipFill>
        <p:spPr>
          <a:xfrm>
            <a:off x="5522976" y="1377463"/>
            <a:ext cx="3309324" cy="1861495"/>
          </a:xfrm>
          <a:prstGeom prst="rect">
            <a:avLst/>
          </a:prstGeom>
          <a:noFill/>
          <a:ln>
            <a:noFill/>
          </a:ln>
        </p:spPr>
      </p:pic>
      <p:pic>
        <p:nvPicPr>
          <p:cNvPr id="83" name="Google Shape;83;p16"/>
          <p:cNvPicPr preferRelativeResize="0"/>
          <p:nvPr/>
        </p:nvPicPr>
        <p:blipFill rotWithShape="1">
          <a:blip r:embed="rId5">
            <a:alphaModFix/>
          </a:blip>
          <a:srcRect b="0" l="0" r="0" t="0"/>
          <a:stretch/>
        </p:blipFill>
        <p:spPr>
          <a:xfrm>
            <a:off x="3182111" y="1406759"/>
            <a:ext cx="1942767" cy="183890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200"/>
              <a:t>Problem Definition</a:t>
            </a:r>
            <a:endParaRPr sz="3200"/>
          </a:p>
        </p:txBody>
      </p:sp>
      <p:sp>
        <p:nvSpPr>
          <p:cNvPr id="89" name="Google Shape;89;p17"/>
          <p:cNvSpPr txBox="1"/>
          <p:nvPr/>
        </p:nvSpPr>
        <p:spPr>
          <a:xfrm>
            <a:off x="311700" y="1324676"/>
            <a:ext cx="6028200" cy="2801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i="0" lang="en" sz="1600" u="none" cap="none" strike="noStrike">
                <a:solidFill>
                  <a:srgbClr val="000000"/>
                </a:solidFill>
                <a:latin typeface="Book Antiqua"/>
                <a:ea typeface="Book Antiqua"/>
                <a:cs typeface="Book Antiqua"/>
                <a:sym typeface="Book Antiqua"/>
              </a:rPr>
              <a:t>In urban environments, inefficient traffic signal management leads to significant traffic congestion, delays, and increased pollution. Traditional traffic signal systems operate on fixed schedules and fail to dynamically adjust to real-time traffic conditions, causing unnecessary waiting times for vehicles even when roads are clear or underused. This inefficiency contributes to fuel wastage, increased emissions, and driver frustration. The challenge is to develop an intelligent traffic signal automation system that can adapt in real-time</a:t>
            </a:r>
            <a:endParaRPr i="0" sz="1600" u="none" cap="none" strike="noStrike">
              <a:solidFill>
                <a:srgbClr val="000000"/>
              </a:solidFill>
              <a:latin typeface="Book Antiqua"/>
              <a:ea typeface="Book Antiqua"/>
              <a:cs typeface="Book Antiqua"/>
              <a:sym typeface="Book Antiqua"/>
            </a:endParaRPr>
          </a:p>
          <a:p>
            <a:pPr indent="0" lvl="0" marL="0" marR="0" rtl="0" algn="l">
              <a:lnSpc>
                <a:spcPct val="100000"/>
              </a:lnSpc>
              <a:spcBef>
                <a:spcPts val="0"/>
              </a:spcBef>
              <a:spcAft>
                <a:spcPts val="0"/>
              </a:spcAft>
              <a:buClr>
                <a:srgbClr val="000000"/>
              </a:buClr>
              <a:buSzPts val="1400"/>
              <a:buFont typeface="Arial"/>
              <a:buNone/>
            </a:pPr>
            <a:br>
              <a:rPr i="0" lang="en" sz="1600" u="none" cap="none" strike="noStrike">
                <a:solidFill>
                  <a:srgbClr val="000000"/>
                </a:solidFill>
                <a:latin typeface="Book Antiqua"/>
                <a:ea typeface="Book Antiqua"/>
                <a:cs typeface="Book Antiqua"/>
                <a:sym typeface="Book Antiqua"/>
              </a:rPr>
            </a:br>
            <a:endParaRPr i="0" sz="1600" u="none" cap="none" strike="noStrike">
              <a:solidFill>
                <a:srgbClr val="000000"/>
              </a:solidFill>
              <a:latin typeface="Book Antiqua"/>
              <a:ea typeface="Book Antiqua"/>
              <a:cs typeface="Book Antiqua"/>
              <a:sym typeface="Book Antiqua"/>
            </a:endParaRPr>
          </a:p>
        </p:txBody>
      </p:sp>
      <p:pic>
        <p:nvPicPr>
          <p:cNvPr id="90" name="Google Shape;90;p17"/>
          <p:cNvPicPr preferRelativeResize="0"/>
          <p:nvPr/>
        </p:nvPicPr>
        <p:blipFill rotWithShape="1">
          <a:blip r:embed="rId3">
            <a:alphaModFix/>
          </a:blip>
          <a:srcRect b="0" l="0" r="0" t="0"/>
          <a:stretch/>
        </p:blipFill>
        <p:spPr>
          <a:xfrm>
            <a:off x="6526928" y="1135628"/>
            <a:ext cx="2305372" cy="35628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1973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Methodology </a:t>
            </a:r>
            <a:endParaRPr/>
          </a:p>
        </p:txBody>
      </p:sp>
      <p:sp>
        <p:nvSpPr>
          <p:cNvPr id="96" name="Google Shape;96;p18"/>
          <p:cNvSpPr txBox="1"/>
          <p:nvPr>
            <p:ph idx="1" type="body"/>
          </p:nvPr>
        </p:nvSpPr>
        <p:spPr>
          <a:xfrm>
            <a:off x="311700" y="866725"/>
            <a:ext cx="3699300" cy="5727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rgbClr val="000000"/>
              </a:buClr>
              <a:buSzPts val="1700"/>
              <a:buFont typeface="Times New Roman"/>
              <a:buChar char="❏"/>
            </a:pPr>
            <a:r>
              <a:rPr b="1" lang="en" sz="1700">
                <a:solidFill>
                  <a:srgbClr val="000000"/>
                </a:solidFill>
                <a:latin typeface="Times New Roman"/>
                <a:ea typeface="Times New Roman"/>
                <a:cs typeface="Times New Roman"/>
                <a:sym typeface="Times New Roman"/>
              </a:rPr>
              <a:t>Dataset Collection</a:t>
            </a:r>
            <a:endParaRPr b="1" sz="1700">
              <a:solidFill>
                <a:srgbClr val="000000"/>
              </a:solidFill>
              <a:latin typeface="Times New Roman"/>
              <a:ea typeface="Times New Roman"/>
              <a:cs typeface="Times New Roman"/>
              <a:sym typeface="Times New Roman"/>
            </a:endParaRPr>
          </a:p>
          <a:p>
            <a:pPr indent="0" lvl="0" marL="457200" rtl="0" algn="l">
              <a:lnSpc>
                <a:spcPct val="115000"/>
              </a:lnSpc>
              <a:spcBef>
                <a:spcPts val="0"/>
              </a:spcBef>
              <a:spcAft>
                <a:spcPts val="0"/>
              </a:spcAft>
              <a:buSzPts val="1400"/>
              <a:buNone/>
            </a:pPr>
            <a:r>
              <a:t/>
            </a:r>
            <a:endParaRPr>
              <a:solidFill>
                <a:srgbClr val="000000"/>
              </a:solidFill>
            </a:endParaRPr>
          </a:p>
          <a:p>
            <a:pPr indent="0" lvl="0" marL="0" rtl="0" algn="l">
              <a:lnSpc>
                <a:spcPct val="100000"/>
              </a:lnSpc>
              <a:spcBef>
                <a:spcPts val="0"/>
              </a:spcBef>
              <a:spcAft>
                <a:spcPts val="0"/>
              </a:spcAft>
              <a:buSzPts val="1400"/>
              <a:buNone/>
            </a:pPr>
            <a:r>
              <a:t/>
            </a:r>
            <a:endParaRPr>
              <a:solidFill>
                <a:srgbClr val="000000"/>
              </a:solidFill>
              <a:latin typeface="Arial"/>
              <a:ea typeface="Arial"/>
              <a:cs typeface="Arial"/>
              <a:sym typeface="Arial"/>
            </a:endParaRPr>
          </a:p>
          <a:p>
            <a:pPr indent="0" lvl="0" marL="457200" rtl="0" algn="l">
              <a:lnSpc>
                <a:spcPct val="115000"/>
              </a:lnSpc>
              <a:spcBef>
                <a:spcPts val="0"/>
              </a:spcBef>
              <a:spcAft>
                <a:spcPts val="0"/>
              </a:spcAft>
              <a:buSzPts val="1300"/>
              <a:buNone/>
            </a:pPr>
            <a:r>
              <a:t/>
            </a:r>
            <a:endParaRPr>
              <a:solidFill>
                <a:srgbClr val="000000"/>
              </a:solidFill>
            </a:endParaRPr>
          </a:p>
        </p:txBody>
      </p:sp>
      <p:sp>
        <p:nvSpPr>
          <p:cNvPr id="97" name="Google Shape;97;p18"/>
          <p:cNvSpPr txBox="1"/>
          <p:nvPr/>
        </p:nvSpPr>
        <p:spPr>
          <a:xfrm>
            <a:off x="829726" y="1331650"/>
            <a:ext cx="7626900" cy="1169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300"/>
              <a:buFont typeface="Arial"/>
              <a:buNone/>
            </a:pPr>
            <a:r>
              <a:rPr i="0" lang="en" sz="1600" u="none" cap="none" strike="noStrike">
                <a:solidFill>
                  <a:srgbClr val="000000"/>
                </a:solidFill>
                <a:latin typeface="Book Antiqua"/>
                <a:ea typeface="Book Antiqua"/>
                <a:cs typeface="Book Antiqua"/>
                <a:sym typeface="Book Antiqua"/>
              </a:rPr>
              <a:t>Gather images of various vehicle types (autorickshaws, buses, cars, taxis, bikes, ambulances, etc.). Ensure the dataset covers different angles, lighting conditions, and road environments for robustness.</a:t>
            </a:r>
            <a:endParaRPr i="0" sz="1600" u="none" cap="none" strike="noStrike">
              <a:solidFill>
                <a:srgbClr val="000000"/>
              </a:solidFill>
              <a:latin typeface="Book Antiqua"/>
              <a:ea typeface="Book Antiqua"/>
              <a:cs typeface="Book Antiqua"/>
              <a:sym typeface="Book Antiqua"/>
            </a:endParaRPr>
          </a:p>
          <a:p>
            <a:pPr indent="0" lvl="0" marL="0" marR="0" rtl="0" algn="just">
              <a:lnSpc>
                <a:spcPct val="100000"/>
              </a:lnSpc>
              <a:spcBef>
                <a:spcPts val="0"/>
              </a:spcBef>
              <a:spcAft>
                <a:spcPts val="0"/>
              </a:spcAft>
              <a:buClr>
                <a:srgbClr val="000000"/>
              </a:buClr>
              <a:buSzPts val="1300"/>
              <a:buFont typeface="Arial"/>
              <a:buNone/>
            </a:pPr>
            <a:r>
              <a:t/>
            </a:r>
            <a:endParaRPr sz="1600"/>
          </a:p>
        </p:txBody>
      </p:sp>
      <p:pic>
        <p:nvPicPr>
          <p:cNvPr id="98" name="Google Shape;98;p18"/>
          <p:cNvPicPr preferRelativeResize="0"/>
          <p:nvPr/>
        </p:nvPicPr>
        <p:blipFill rotWithShape="1">
          <a:blip r:embed="rId3">
            <a:alphaModFix/>
          </a:blip>
          <a:srcRect b="0" l="0" r="0" t="0"/>
          <a:stretch/>
        </p:blipFill>
        <p:spPr>
          <a:xfrm>
            <a:off x="3492550" y="2298125"/>
            <a:ext cx="5237651" cy="2712950"/>
          </a:xfrm>
          <a:prstGeom prst="rect">
            <a:avLst/>
          </a:prstGeom>
          <a:noFill/>
          <a:ln>
            <a:noFill/>
          </a:ln>
        </p:spPr>
      </p:pic>
      <p:sp>
        <p:nvSpPr>
          <p:cNvPr id="99" name="Google Shape;99;p18"/>
          <p:cNvSpPr txBox="1"/>
          <p:nvPr/>
        </p:nvSpPr>
        <p:spPr>
          <a:xfrm>
            <a:off x="366100" y="2192225"/>
            <a:ext cx="2559300" cy="2975700"/>
          </a:xfrm>
          <a:prstGeom prst="rect">
            <a:avLst/>
          </a:prstGeom>
          <a:noFill/>
          <a:ln>
            <a:noFill/>
          </a:ln>
        </p:spPr>
        <p:txBody>
          <a:bodyPr anchorCtr="0" anchor="t" bIns="91425" lIns="91425" spcFirstLastPara="1" rIns="91425" wrap="square" tIns="91425">
            <a:spAutoFit/>
          </a:bodyPr>
          <a:lstStyle/>
          <a:p>
            <a:pPr indent="-330200" lvl="0" marL="457200" marR="0" rtl="0" algn="just">
              <a:lnSpc>
                <a:spcPct val="100000"/>
              </a:lnSpc>
              <a:spcBef>
                <a:spcPts val="0"/>
              </a:spcBef>
              <a:spcAft>
                <a:spcPts val="0"/>
              </a:spcAft>
              <a:buClr>
                <a:srgbClr val="000000"/>
              </a:buClr>
              <a:buSzPts val="1600"/>
              <a:buFont typeface="Book Antiqua"/>
              <a:buChar char="●"/>
            </a:pPr>
            <a:r>
              <a:rPr i="0" lang="en" sz="1600" u="none" cap="none" strike="noStrike">
                <a:solidFill>
                  <a:srgbClr val="000000"/>
                </a:solidFill>
                <a:latin typeface="Book Antiqua"/>
                <a:ea typeface="Book Antiqua"/>
                <a:cs typeface="Book Antiqua"/>
                <a:sym typeface="Book Antiqua"/>
              </a:rPr>
              <a:t>Use Roboflow to annotate the images, drawing bounding boxes around vehicles.</a:t>
            </a:r>
            <a:endParaRPr i="0" sz="1600" u="none" cap="none" strike="noStrike">
              <a:solidFill>
                <a:srgbClr val="000000"/>
              </a:solidFill>
              <a:latin typeface="Book Antiqua"/>
              <a:ea typeface="Book Antiqua"/>
              <a:cs typeface="Book Antiqua"/>
              <a:sym typeface="Book Antiqua"/>
            </a:endParaRPr>
          </a:p>
          <a:p>
            <a:pPr indent="-330200" lvl="0" marL="457200" marR="0" rtl="0" algn="just">
              <a:lnSpc>
                <a:spcPct val="100000"/>
              </a:lnSpc>
              <a:spcBef>
                <a:spcPts val="0"/>
              </a:spcBef>
              <a:spcAft>
                <a:spcPts val="0"/>
              </a:spcAft>
              <a:buClr>
                <a:srgbClr val="000000"/>
              </a:buClr>
              <a:buSzPts val="1600"/>
              <a:buFont typeface="Book Antiqua"/>
              <a:buChar char="●"/>
            </a:pPr>
            <a:r>
              <a:rPr i="0" lang="en" sz="1600" u="none" cap="none" strike="noStrike">
                <a:solidFill>
                  <a:srgbClr val="000000"/>
                </a:solidFill>
                <a:latin typeface="Book Antiqua"/>
                <a:ea typeface="Book Antiqua"/>
                <a:cs typeface="Book Antiqua"/>
                <a:sym typeface="Book Antiqua"/>
              </a:rPr>
              <a:t>Assign labels/classes to each vehicle type.</a:t>
            </a:r>
            <a:endParaRPr i="0" sz="1600" u="none" cap="none" strike="noStrike">
              <a:solidFill>
                <a:srgbClr val="000000"/>
              </a:solidFill>
              <a:latin typeface="Book Antiqua"/>
              <a:ea typeface="Book Antiqua"/>
              <a:cs typeface="Book Antiqua"/>
              <a:sym typeface="Book Antiqua"/>
            </a:endParaRPr>
          </a:p>
          <a:p>
            <a:pPr indent="-330200" lvl="0" marL="457200" marR="0" rtl="0" algn="just">
              <a:lnSpc>
                <a:spcPct val="100000"/>
              </a:lnSpc>
              <a:spcBef>
                <a:spcPts val="0"/>
              </a:spcBef>
              <a:spcAft>
                <a:spcPts val="0"/>
              </a:spcAft>
              <a:buClr>
                <a:srgbClr val="000000"/>
              </a:buClr>
              <a:buSzPts val="1600"/>
              <a:buFont typeface="Book Antiqua"/>
              <a:buChar char="●"/>
            </a:pPr>
            <a:r>
              <a:rPr i="0" lang="en" sz="1600" u="none" cap="none" strike="noStrike">
                <a:solidFill>
                  <a:srgbClr val="000000"/>
                </a:solidFill>
                <a:latin typeface="Book Antiqua"/>
                <a:ea typeface="Book Antiqua"/>
                <a:cs typeface="Book Antiqua"/>
                <a:sym typeface="Book Antiqua"/>
              </a:rPr>
              <a:t>Generate and export the dataset in YOLO format.</a:t>
            </a:r>
            <a:endParaRPr i="0" sz="1600" u="none" cap="none" strike="noStrike">
              <a:solidFill>
                <a:srgbClr val="000000"/>
              </a:solidFill>
              <a:latin typeface="Book Antiqua"/>
              <a:ea typeface="Book Antiqua"/>
              <a:cs typeface="Book Antiqua"/>
              <a:sym typeface="Book Antiqua"/>
            </a:endParaRPr>
          </a:p>
          <a:p>
            <a:pPr indent="0" lvl="0" marL="0" marR="0" rtl="0" algn="l">
              <a:lnSpc>
                <a:spcPct val="100000"/>
              </a:lnSpc>
              <a:spcBef>
                <a:spcPts val="100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Smart Traffic Signalling System</a:t>
            </a:r>
            <a:endParaRPr/>
          </a:p>
        </p:txBody>
      </p:sp>
      <p:sp>
        <p:nvSpPr>
          <p:cNvPr id="105" name="Google Shape;105;p19"/>
          <p:cNvSpPr txBox="1"/>
          <p:nvPr>
            <p:ph idx="1" type="body"/>
          </p:nvPr>
        </p:nvSpPr>
        <p:spPr>
          <a:xfrm>
            <a:off x="405950" y="1152475"/>
            <a:ext cx="7922700" cy="33759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1200"/>
              </a:spcBef>
              <a:spcAft>
                <a:spcPts val="0"/>
              </a:spcAft>
              <a:buSzPts val="1400"/>
              <a:buNone/>
            </a:pPr>
            <a:r>
              <a:rPr lang="en" sz="1600">
                <a:solidFill>
                  <a:srgbClr val="151515"/>
                </a:solidFill>
                <a:latin typeface="Book Antiqua"/>
                <a:ea typeface="Book Antiqua"/>
                <a:cs typeface="Book Antiqua"/>
                <a:sym typeface="Book Antiqua"/>
              </a:rPr>
              <a:t>To make a Smart Traffic Signaling Mechanism that effectively reduces traffic congestion and prioritizes emergency vehicles, we need a hybrid algorithm that integrates multiple techniques. The Smart traffic signaling mechanism requires efficient decision-making to prioritize emergency vehicles while optimizing overall traffic flow</a:t>
            </a:r>
            <a:br>
              <a:rPr lang="en" sz="1600">
                <a:solidFill>
                  <a:srgbClr val="151515"/>
                </a:solidFill>
                <a:latin typeface="Book Antiqua"/>
                <a:ea typeface="Book Antiqua"/>
                <a:cs typeface="Book Antiqua"/>
                <a:sym typeface="Book Antiqua"/>
              </a:rPr>
            </a:br>
            <a:br>
              <a:rPr lang="en" sz="1600">
                <a:latin typeface="Book Antiqua"/>
                <a:ea typeface="Book Antiqua"/>
                <a:cs typeface="Book Antiqua"/>
                <a:sym typeface="Book Antiqua"/>
              </a:rPr>
            </a:br>
            <a:r>
              <a:rPr b="1" lang="en" sz="1600">
                <a:solidFill>
                  <a:srgbClr val="000000"/>
                </a:solidFill>
                <a:latin typeface="Book Antiqua"/>
                <a:ea typeface="Book Antiqua"/>
                <a:cs typeface="Book Antiqua"/>
                <a:sym typeface="Book Antiqua"/>
              </a:rPr>
              <a:t>Algorithms used :</a:t>
            </a:r>
            <a:endParaRPr b="1" sz="1600">
              <a:solidFill>
                <a:srgbClr val="000000"/>
              </a:solidFill>
              <a:latin typeface="Book Antiqua"/>
              <a:ea typeface="Book Antiqua"/>
              <a:cs typeface="Book Antiqua"/>
              <a:sym typeface="Book Antiqua"/>
            </a:endParaRPr>
          </a:p>
          <a:p>
            <a:pPr indent="0" lvl="0" marL="0" rtl="0" algn="l">
              <a:lnSpc>
                <a:spcPct val="115000"/>
              </a:lnSpc>
              <a:spcBef>
                <a:spcPts val="1200"/>
              </a:spcBef>
              <a:spcAft>
                <a:spcPts val="0"/>
              </a:spcAft>
              <a:buSzPts val="1400"/>
              <a:buNone/>
            </a:pPr>
            <a:r>
              <a:t/>
            </a:r>
            <a:endParaRPr sz="1600">
              <a:solidFill>
                <a:srgbClr val="000000"/>
              </a:solidFill>
              <a:latin typeface="Book Antiqua"/>
              <a:ea typeface="Book Antiqua"/>
              <a:cs typeface="Book Antiqua"/>
              <a:sym typeface="Book Antiqua"/>
            </a:endParaRPr>
          </a:p>
          <a:p>
            <a:pPr indent="-330200" lvl="0" marL="457200" rtl="0" algn="l">
              <a:lnSpc>
                <a:spcPct val="115000"/>
              </a:lnSpc>
              <a:spcBef>
                <a:spcPts val="0"/>
              </a:spcBef>
              <a:spcAft>
                <a:spcPts val="0"/>
              </a:spcAft>
              <a:buClr>
                <a:srgbClr val="000000"/>
              </a:buClr>
              <a:buSzPts val="1600"/>
              <a:buFont typeface="Book Antiqua"/>
              <a:buAutoNum type="arabicPeriod"/>
            </a:pPr>
            <a:r>
              <a:rPr lang="en" sz="1600">
                <a:solidFill>
                  <a:srgbClr val="000000"/>
                </a:solidFill>
                <a:latin typeface="Book Antiqua"/>
                <a:ea typeface="Book Antiqua"/>
                <a:cs typeface="Book Antiqua"/>
                <a:sym typeface="Book Antiqua"/>
              </a:rPr>
              <a:t>Priority Queue (Heap - Based Scheduling).</a:t>
            </a:r>
            <a:endParaRPr sz="1600">
              <a:solidFill>
                <a:srgbClr val="000000"/>
              </a:solidFill>
              <a:latin typeface="Book Antiqua"/>
              <a:ea typeface="Book Antiqua"/>
              <a:cs typeface="Book Antiqua"/>
              <a:sym typeface="Book Antiqua"/>
            </a:endParaRPr>
          </a:p>
          <a:p>
            <a:pPr indent="-330200" lvl="0" marL="457200" rtl="0" algn="l">
              <a:lnSpc>
                <a:spcPct val="115000"/>
              </a:lnSpc>
              <a:spcBef>
                <a:spcPts val="0"/>
              </a:spcBef>
              <a:spcAft>
                <a:spcPts val="0"/>
              </a:spcAft>
              <a:buClr>
                <a:srgbClr val="000000"/>
              </a:buClr>
              <a:buSzPts val="1600"/>
              <a:buFont typeface="Book Antiqua"/>
              <a:buAutoNum type="arabicPeriod"/>
            </a:pPr>
            <a:r>
              <a:rPr lang="en" sz="1600">
                <a:solidFill>
                  <a:srgbClr val="000000"/>
                </a:solidFill>
                <a:latin typeface="Book Antiqua"/>
                <a:ea typeface="Book Antiqua"/>
                <a:cs typeface="Book Antiqua"/>
                <a:sym typeface="Book Antiqua"/>
              </a:rPr>
              <a:t>Shortest Remaining Time First (SRTF) for Lane Selection</a:t>
            </a:r>
            <a:endParaRPr sz="1600">
              <a:solidFill>
                <a:srgbClr val="000000"/>
              </a:solidFill>
              <a:latin typeface="Book Antiqua"/>
              <a:ea typeface="Book Antiqua"/>
              <a:cs typeface="Book Antiqua"/>
              <a:sym typeface="Book Antiqua"/>
            </a:endParaRPr>
          </a:p>
          <a:p>
            <a:pPr indent="-330200" lvl="0" marL="457200" rtl="0" algn="l">
              <a:lnSpc>
                <a:spcPct val="115000"/>
              </a:lnSpc>
              <a:spcBef>
                <a:spcPts val="0"/>
              </a:spcBef>
              <a:spcAft>
                <a:spcPts val="0"/>
              </a:spcAft>
              <a:buClr>
                <a:srgbClr val="000000"/>
              </a:buClr>
              <a:buSzPts val="1600"/>
              <a:buFont typeface="Book Antiqua"/>
              <a:buAutoNum type="arabicPeriod"/>
            </a:pPr>
            <a:r>
              <a:rPr lang="en" sz="1600">
                <a:solidFill>
                  <a:srgbClr val="000000"/>
                </a:solidFill>
                <a:latin typeface="Book Antiqua"/>
                <a:ea typeface="Book Antiqua"/>
                <a:cs typeface="Book Antiqua"/>
                <a:sym typeface="Book Antiqua"/>
              </a:rPr>
              <a:t>Dynamic Traffic Light Timing (Adaptive Signal Control Algorithm - ASCT)</a:t>
            </a:r>
            <a:endParaRPr sz="1600">
              <a:solidFill>
                <a:srgbClr val="000000"/>
              </a:solidFill>
              <a:latin typeface="Book Antiqua"/>
              <a:ea typeface="Book Antiqua"/>
              <a:cs typeface="Book Antiqua"/>
              <a:sym typeface="Book Antiqu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Priority Queue (Heap Based Scheduling)</a:t>
            </a:r>
            <a:endParaRPr/>
          </a:p>
        </p:txBody>
      </p:sp>
      <p:sp>
        <p:nvSpPr>
          <p:cNvPr id="111" name="Google Shape;111;p20"/>
          <p:cNvSpPr txBox="1"/>
          <p:nvPr>
            <p:ph idx="1" type="body"/>
          </p:nvPr>
        </p:nvSpPr>
        <p:spPr>
          <a:xfrm>
            <a:off x="311700" y="1124875"/>
            <a:ext cx="3762000" cy="4337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SzPts val="1400"/>
              <a:buNone/>
            </a:pPr>
            <a:r>
              <a:rPr b="1" lang="en" sz="1600">
                <a:solidFill>
                  <a:srgbClr val="000000"/>
                </a:solidFill>
                <a:latin typeface="Times New Roman"/>
                <a:ea typeface="Times New Roman"/>
                <a:cs typeface="Times New Roman"/>
                <a:sym typeface="Times New Roman"/>
              </a:rPr>
              <a:t>What is  Priority Queue (Heap) for Lane Selection? </a:t>
            </a:r>
            <a:endParaRPr b="1" sz="1600">
              <a:solidFill>
                <a:srgbClr val="000000"/>
              </a:solidFill>
              <a:latin typeface="Times New Roman"/>
              <a:ea typeface="Times New Roman"/>
              <a:cs typeface="Times New Roman"/>
              <a:sym typeface="Times New Roman"/>
            </a:endParaRPr>
          </a:p>
          <a:p>
            <a:pPr indent="-330200" lvl="0" marL="457200" rtl="0" algn="just">
              <a:lnSpc>
                <a:spcPct val="115000"/>
              </a:lnSpc>
              <a:spcBef>
                <a:spcPts val="200"/>
              </a:spcBef>
              <a:spcAft>
                <a:spcPts val="0"/>
              </a:spcAft>
              <a:buClr>
                <a:srgbClr val="000000"/>
              </a:buClr>
              <a:buSzPts val="1600"/>
              <a:buFont typeface="Arial"/>
              <a:buChar char="●"/>
            </a:pPr>
            <a:r>
              <a:rPr lang="en" sz="1600">
                <a:solidFill>
                  <a:srgbClr val="000000"/>
                </a:solidFill>
                <a:latin typeface="Times New Roman"/>
                <a:ea typeface="Times New Roman"/>
                <a:cs typeface="Times New Roman"/>
                <a:sym typeface="Times New Roman"/>
              </a:rPr>
              <a:t>A </a:t>
            </a:r>
            <a:r>
              <a:rPr b="1" lang="en" sz="1600">
                <a:solidFill>
                  <a:srgbClr val="000000"/>
                </a:solidFill>
                <a:latin typeface="Times New Roman"/>
                <a:ea typeface="Times New Roman"/>
                <a:cs typeface="Times New Roman"/>
                <a:sym typeface="Times New Roman"/>
              </a:rPr>
              <a:t>Heap (Priority Queue)</a:t>
            </a:r>
            <a:r>
              <a:rPr lang="en" sz="1600">
                <a:solidFill>
                  <a:srgbClr val="000000"/>
                </a:solidFill>
                <a:latin typeface="Times New Roman"/>
                <a:ea typeface="Times New Roman"/>
                <a:cs typeface="Times New Roman"/>
                <a:sym typeface="Times New Roman"/>
              </a:rPr>
              <a:t> is used to dynamically manage lane priorities.</a:t>
            </a:r>
            <a:endParaRPr sz="1600">
              <a:solidFill>
                <a:srgbClr val="000000"/>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rgbClr val="000000"/>
              </a:buClr>
              <a:buSzPts val="1600"/>
              <a:buFont typeface="Times New Roman"/>
              <a:buChar char="●"/>
            </a:pPr>
            <a:r>
              <a:rPr b="1" lang="en" sz="1600">
                <a:solidFill>
                  <a:srgbClr val="000000"/>
                </a:solidFill>
                <a:latin typeface="Times New Roman"/>
                <a:ea typeface="Times New Roman"/>
                <a:cs typeface="Times New Roman"/>
                <a:sym typeface="Times New Roman"/>
              </a:rPr>
              <a:t>Emergency vehicles (ambulances, fire brigades) will get the highest priority.</a:t>
            </a:r>
            <a:endParaRPr b="1" sz="1600">
              <a:solidFill>
                <a:srgbClr val="000000"/>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rgbClr val="000000"/>
              </a:buClr>
              <a:buSzPts val="1600"/>
              <a:buFont typeface="Arial"/>
              <a:buChar char="●"/>
            </a:pPr>
            <a:r>
              <a:rPr lang="en" sz="1600">
                <a:solidFill>
                  <a:srgbClr val="000000"/>
                </a:solidFill>
                <a:latin typeface="Times New Roman"/>
                <a:ea typeface="Times New Roman"/>
                <a:cs typeface="Times New Roman"/>
                <a:sym typeface="Times New Roman"/>
              </a:rPr>
              <a:t>Dynamically adapts to </a:t>
            </a:r>
            <a:r>
              <a:rPr b="1" lang="en" sz="1600">
                <a:solidFill>
                  <a:srgbClr val="000000"/>
                </a:solidFill>
                <a:latin typeface="Times New Roman"/>
                <a:ea typeface="Times New Roman"/>
                <a:cs typeface="Times New Roman"/>
                <a:sym typeface="Times New Roman"/>
              </a:rPr>
              <a:t>real-time traffic density</a:t>
            </a:r>
            <a:r>
              <a:rPr lang="en" sz="1600">
                <a:solidFill>
                  <a:srgbClr val="000000"/>
                </a:solidFill>
                <a:latin typeface="Times New Roman"/>
                <a:ea typeface="Times New Roman"/>
                <a:cs typeface="Times New Roman"/>
                <a:sym typeface="Times New Roman"/>
              </a:rPr>
              <a:t>.</a:t>
            </a:r>
            <a:endParaRPr b="1" sz="1600">
              <a:solidFill>
                <a:srgbClr val="000000"/>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rgbClr val="000000"/>
              </a:buClr>
              <a:buSzPts val="1600"/>
              <a:buFont typeface="Arial"/>
              <a:buChar char="●"/>
            </a:pPr>
            <a:r>
              <a:rPr lang="en" sz="1600">
                <a:solidFill>
                  <a:srgbClr val="000000"/>
                </a:solidFill>
                <a:latin typeface="Times New Roman"/>
                <a:ea typeface="Times New Roman"/>
                <a:cs typeface="Times New Roman"/>
                <a:sym typeface="Times New Roman"/>
              </a:rPr>
              <a:t>If no emergency vehicles exist, the lane with the </a:t>
            </a:r>
            <a:r>
              <a:rPr b="1" lang="en" sz="1600">
                <a:solidFill>
                  <a:srgbClr val="000000"/>
                </a:solidFill>
                <a:latin typeface="Times New Roman"/>
                <a:ea typeface="Times New Roman"/>
                <a:cs typeface="Times New Roman"/>
                <a:sym typeface="Times New Roman"/>
              </a:rPr>
              <a:t>highest normal token count (traffic density)</a:t>
            </a:r>
            <a:r>
              <a:rPr lang="en" sz="1600">
                <a:solidFill>
                  <a:srgbClr val="000000"/>
                </a:solidFill>
                <a:latin typeface="Times New Roman"/>
                <a:ea typeface="Times New Roman"/>
                <a:cs typeface="Times New Roman"/>
                <a:sym typeface="Times New Roman"/>
              </a:rPr>
              <a:t> gets priority.</a:t>
            </a:r>
            <a:endParaRPr sz="1200">
              <a:solidFill>
                <a:srgbClr val="000000"/>
              </a:solidFill>
              <a:latin typeface="Times New Roman"/>
              <a:ea typeface="Times New Roman"/>
              <a:cs typeface="Times New Roman"/>
              <a:sym typeface="Times New Roman"/>
            </a:endParaRPr>
          </a:p>
          <a:p>
            <a:pPr indent="0" lvl="0" marL="0" rtl="0" algn="l">
              <a:lnSpc>
                <a:spcPct val="115000"/>
              </a:lnSpc>
              <a:spcBef>
                <a:spcPts val="1000"/>
              </a:spcBef>
              <a:spcAft>
                <a:spcPts val="0"/>
              </a:spcAft>
              <a:buSzPts val="1400"/>
              <a:buNone/>
            </a:pPr>
            <a:r>
              <a:t/>
            </a:r>
            <a:endParaRPr/>
          </a:p>
        </p:txBody>
      </p:sp>
      <p:pic>
        <p:nvPicPr>
          <p:cNvPr id="112" name="Google Shape;112;p20"/>
          <p:cNvPicPr preferRelativeResize="0"/>
          <p:nvPr/>
        </p:nvPicPr>
        <p:blipFill rotWithShape="1">
          <a:blip r:embed="rId3">
            <a:alphaModFix/>
          </a:blip>
          <a:srcRect b="0" l="0" r="0" t="0"/>
          <a:stretch/>
        </p:blipFill>
        <p:spPr>
          <a:xfrm>
            <a:off x="4572005" y="1550500"/>
            <a:ext cx="3678175" cy="26829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3133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Shortest Remaining Time First (SRTF)</a:t>
            </a:r>
            <a:endParaRPr/>
          </a:p>
        </p:txBody>
      </p:sp>
      <p:sp>
        <p:nvSpPr>
          <p:cNvPr id="118" name="Google Shape;118;p21"/>
          <p:cNvSpPr txBox="1"/>
          <p:nvPr>
            <p:ph idx="1" type="body"/>
          </p:nvPr>
        </p:nvSpPr>
        <p:spPr>
          <a:xfrm>
            <a:off x="311700" y="886000"/>
            <a:ext cx="9026100" cy="4259100"/>
          </a:xfrm>
          <a:prstGeom prst="rect">
            <a:avLst/>
          </a:prstGeom>
          <a:noFill/>
          <a:ln>
            <a:noFill/>
          </a:ln>
        </p:spPr>
        <p:txBody>
          <a:bodyPr anchorCtr="0" anchor="t" bIns="91425" lIns="91425" spcFirstLastPara="1" rIns="91425" wrap="square" tIns="91425">
            <a:spAutoFit/>
          </a:bodyPr>
          <a:lstStyle/>
          <a:p>
            <a:pPr indent="-304800" lvl="0" marL="457200" rtl="0" algn="just">
              <a:lnSpc>
                <a:spcPct val="115000"/>
              </a:lnSpc>
              <a:spcBef>
                <a:spcPts val="1200"/>
              </a:spcBef>
              <a:spcAft>
                <a:spcPts val="0"/>
              </a:spcAft>
              <a:buClr>
                <a:srgbClr val="000000"/>
              </a:buClr>
              <a:buSzPts val="1200"/>
              <a:buFont typeface="Times New Roman"/>
              <a:buChar char="❏"/>
            </a:pPr>
            <a:r>
              <a:rPr b="1" lang="en" sz="1200">
                <a:solidFill>
                  <a:srgbClr val="000000"/>
                </a:solidFill>
                <a:latin typeface="Times New Roman"/>
                <a:ea typeface="Times New Roman"/>
                <a:cs typeface="Times New Roman"/>
                <a:sym typeface="Times New Roman"/>
              </a:rPr>
              <a:t>How Shortest Remaining Time First (STRF) works ?</a:t>
            </a:r>
            <a:endParaRPr b="1" sz="1200">
              <a:solidFill>
                <a:srgbClr val="000000"/>
              </a:solidFill>
              <a:latin typeface="Times New Roman"/>
              <a:ea typeface="Times New Roman"/>
              <a:cs typeface="Times New Roman"/>
              <a:sym typeface="Times New Roman"/>
            </a:endParaRPr>
          </a:p>
          <a:p>
            <a:pPr indent="-177800" lvl="0" marL="628650" rtl="0" algn="l">
              <a:lnSpc>
                <a:spcPct val="100000"/>
              </a:lnSpc>
              <a:spcBef>
                <a:spcPts val="1000"/>
              </a:spcBef>
              <a:spcAft>
                <a:spcPts val="0"/>
              </a:spcAft>
              <a:buClr>
                <a:srgbClr val="000000"/>
              </a:buClr>
              <a:buSzPts val="1000"/>
              <a:buFont typeface="Times New Roman"/>
              <a:buAutoNum type="arabicPeriod"/>
            </a:pPr>
            <a:r>
              <a:rPr b="1" lang="en" sz="1000">
                <a:solidFill>
                  <a:srgbClr val="000000"/>
                </a:solidFill>
                <a:latin typeface="Times New Roman"/>
                <a:ea typeface="Times New Roman"/>
                <a:cs typeface="Times New Roman"/>
                <a:sym typeface="Times New Roman"/>
              </a:rPr>
              <a:t>Calculate Clearance Time Using Tokens:</a:t>
            </a:r>
            <a:endParaRPr b="1" sz="1000">
              <a:solidFill>
                <a:srgbClr val="000000"/>
              </a:solidFill>
              <a:latin typeface="Times New Roman"/>
              <a:ea typeface="Times New Roman"/>
              <a:cs typeface="Times New Roman"/>
              <a:sym typeface="Times New Roman"/>
            </a:endParaRPr>
          </a:p>
          <a:p>
            <a:pPr indent="-114300" lvl="0" marL="628650" rtl="0" algn="l">
              <a:lnSpc>
                <a:spcPct val="100000"/>
              </a:lnSpc>
              <a:spcBef>
                <a:spcPts val="1200"/>
              </a:spcBef>
              <a:spcAft>
                <a:spcPts val="0"/>
              </a:spcAft>
              <a:buSzPts val="1400"/>
              <a:buNone/>
            </a:pPr>
            <a:r>
              <a:rPr b="1" lang="en" sz="1000">
                <a:solidFill>
                  <a:srgbClr val="000000"/>
                </a:solidFill>
                <a:latin typeface="Times New Roman"/>
                <a:ea typeface="Times New Roman"/>
                <a:cs typeface="Times New Roman"/>
                <a:sym typeface="Times New Roman"/>
              </a:rPr>
              <a:t>   Clearance Time = (Normal Tokens in Lane) ÷ (Fixed Exit Rate per Token) + (Special Tokens in Lane) ÷ (Fixed Exit Rate per Token)</a:t>
            </a:r>
            <a:endParaRPr b="1" sz="1000">
              <a:solidFill>
                <a:srgbClr val="000000"/>
              </a:solidFill>
              <a:latin typeface="Times New Roman"/>
              <a:ea typeface="Times New Roman"/>
              <a:cs typeface="Times New Roman"/>
              <a:sym typeface="Times New Roman"/>
            </a:endParaRPr>
          </a:p>
          <a:p>
            <a:pPr indent="-114300" lvl="0" marL="628650" rtl="0" algn="l">
              <a:lnSpc>
                <a:spcPct val="100000"/>
              </a:lnSpc>
              <a:spcBef>
                <a:spcPts val="1200"/>
              </a:spcBef>
              <a:spcAft>
                <a:spcPts val="0"/>
              </a:spcAft>
              <a:buSzPts val="1400"/>
              <a:buNone/>
            </a:pPr>
            <a:r>
              <a:rPr b="1" lang="en" sz="1000">
                <a:solidFill>
                  <a:srgbClr val="000000"/>
                </a:solidFill>
                <a:latin typeface="Times New Roman"/>
                <a:ea typeface="Times New Roman"/>
                <a:cs typeface="Times New Roman"/>
                <a:sym typeface="Times New Roman"/>
              </a:rPr>
              <a:t>   Normal Tokens:</a:t>
            </a:r>
            <a:r>
              <a:rPr lang="en" sz="1000">
                <a:solidFill>
                  <a:srgbClr val="000000"/>
                </a:solidFill>
                <a:latin typeface="Times New Roman"/>
                <a:ea typeface="Times New Roman"/>
                <a:cs typeface="Times New Roman"/>
                <a:sym typeface="Times New Roman"/>
              </a:rPr>
              <a:t> Bus = 4, Car = 2, Truck = 5, Bike = 1, etc.</a:t>
            </a:r>
            <a:endParaRPr sz="1000">
              <a:solidFill>
                <a:srgbClr val="000000"/>
              </a:solidFill>
              <a:latin typeface="Times New Roman"/>
              <a:ea typeface="Times New Roman"/>
              <a:cs typeface="Times New Roman"/>
              <a:sym typeface="Times New Roman"/>
            </a:endParaRPr>
          </a:p>
          <a:p>
            <a:pPr indent="-114300" lvl="0" marL="628650" rtl="0" algn="l">
              <a:lnSpc>
                <a:spcPct val="100000"/>
              </a:lnSpc>
              <a:spcBef>
                <a:spcPts val="1200"/>
              </a:spcBef>
              <a:spcAft>
                <a:spcPts val="0"/>
              </a:spcAft>
              <a:buSzPts val="1400"/>
              <a:buNone/>
            </a:pPr>
            <a:r>
              <a:rPr b="1" lang="en" sz="1000">
                <a:solidFill>
                  <a:srgbClr val="000000"/>
                </a:solidFill>
                <a:latin typeface="Times New Roman"/>
                <a:ea typeface="Times New Roman"/>
                <a:cs typeface="Times New Roman"/>
                <a:sym typeface="Times New Roman"/>
              </a:rPr>
              <a:t>   Special Tokens:</a:t>
            </a:r>
            <a:r>
              <a:rPr lang="en" sz="1000">
                <a:solidFill>
                  <a:srgbClr val="000000"/>
                </a:solidFill>
                <a:latin typeface="Times New Roman"/>
                <a:ea typeface="Times New Roman"/>
                <a:cs typeface="Times New Roman"/>
                <a:sym typeface="Times New Roman"/>
              </a:rPr>
              <a:t> Ambulance = 5 (Higher priority).</a:t>
            </a:r>
            <a:endParaRPr sz="1000">
              <a:solidFill>
                <a:srgbClr val="000000"/>
              </a:solidFill>
              <a:latin typeface="Times New Roman"/>
              <a:ea typeface="Times New Roman"/>
              <a:cs typeface="Times New Roman"/>
              <a:sym typeface="Times New Roman"/>
            </a:endParaRPr>
          </a:p>
          <a:p>
            <a:pPr indent="-177800" lvl="0" marL="628650" rtl="0" algn="l">
              <a:lnSpc>
                <a:spcPct val="100000"/>
              </a:lnSpc>
              <a:spcBef>
                <a:spcPts val="1200"/>
              </a:spcBef>
              <a:spcAft>
                <a:spcPts val="0"/>
              </a:spcAft>
              <a:buClr>
                <a:srgbClr val="000000"/>
              </a:buClr>
              <a:buSzPts val="1000"/>
              <a:buFont typeface="Times New Roman"/>
              <a:buAutoNum type="arabicPeriod"/>
            </a:pPr>
            <a:r>
              <a:rPr b="1" lang="en" sz="1000">
                <a:solidFill>
                  <a:srgbClr val="000000"/>
                </a:solidFill>
                <a:latin typeface="Times New Roman"/>
                <a:ea typeface="Times New Roman"/>
                <a:cs typeface="Times New Roman"/>
                <a:sym typeface="Times New Roman"/>
              </a:rPr>
              <a:t>Lane Selection Process:</a:t>
            </a:r>
            <a:endParaRPr b="1" sz="1000">
              <a:solidFill>
                <a:srgbClr val="000000"/>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1400"/>
              <a:buNone/>
            </a:pPr>
            <a:r>
              <a:rPr b="1" lang="en" sz="1000">
                <a:solidFill>
                  <a:srgbClr val="000000"/>
                </a:solidFill>
                <a:latin typeface="Times New Roman"/>
                <a:ea typeface="Times New Roman"/>
                <a:cs typeface="Times New Roman"/>
                <a:sym typeface="Times New Roman"/>
              </a:rPr>
              <a:t>                   Step 1:</a:t>
            </a:r>
            <a:r>
              <a:rPr lang="en" sz="1000">
                <a:solidFill>
                  <a:srgbClr val="000000"/>
                </a:solidFill>
                <a:latin typeface="Times New Roman"/>
                <a:ea typeface="Times New Roman"/>
                <a:cs typeface="Times New Roman"/>
                <a:sym typeface="Times New Roman"/>
              </a:rPr>
              <a:t> If an emergency vehicle </a:t>
            </a:r>
            <a:r>
              <a:rPr b="1" lang="en" sz="1000">
                <a:solidFill>
                  <a:srgbClr val="000000"/>
                </a:solidFill>
                <a:latin typeface="Times New Roman"/>
                <a:ea typeface="Times New Roman"/>
                <a:cs typeface="Times New Roman"/>
                <a:sym typeface="Times New Roman"/>
              </a:rPr>
              <a:t>exists in a lane, prioritize it first.</a:t>
            </a:r>
            <a:endParaRPr b="1" sz="1000">
              <a:solidFill>
                <a:srgbClr val="000000"/>
              </a:solidFill>
              <a:latin typeface="Times New Roman"/>
              <a:ea typeface="Times New Roman"/>
              <a:cs typeface="Times New Roman"/>
              <a:sym typeface="Times New Roman"/>
            </a:endParaRPr>
          </a:p>
          <a:p>
            <a:pPr indent="-114300" lvl="0" marL="628650" rtl="0" algn="l">
              <a:lnSpc>
                <a:spcPct val="100000"/>
              </a:lnSpc>
              <a:spcBef>
                <a:spcPts val="1200"/>
              </a:spcBef>
              <a:spcAft>
                <a:spcPts val="0"/>
              </a:spcAft>
              <a:buSzPts val="1400"/>
              <a:buNone/>
            </a:pPr>
            <a:r>
              <a:rPr b="1" lang="en" sz="1000">
                <a:solidFill>
                  <a:srgbClr val="000000"/>
                </a:solidFill>
                <a:latin typeface="Times New Roman"/>
                <a:ea typeface="Times New Roman"/>
                <a:cs typeface="Times New Roman"/>
                <a:sym typeface="Times New Roman"/>
              </a:rPr>
              <a:t>   Step 2: </a:t>
            </a:r>
            <a:r>
              <a:rPr lang="en" sz="1000">
                <a:solidFill>
                  <a:srgbClr val="000000"/>
                </a:solidFill>
                <a:latin typeface="Times New Roman"/>
                <a:ea typeface="Times New Roman"/>
                <a:cs typeface="Times New Roman"/>
                <a:sym typeface="Times New Roman"/>
              </a:rPr>
              <a:t>Among the remaining  lanes, </a:t>
            </a:r>
            <a:r>
              <a:rPr b="1" lang="en" sz="1000">
                <a:solidFill>
                  <a:srgbClr val="000000"/>
                </a:solidFill>
                <a:latin typeface="Times New Roman"/>
                <a:ea typeface="Times New Roman"/>
                <a:cs typeface="Times New Roman"/>
                <a:sym typeface="Times New Roman"/>
              </a:rPr>
              <a:t>select the one with the lowest clearance time.</a:t>
            </a:r>
            <a:endParaRPr b="1" sz="1000">
              <a:solidFill>
                <a:srgbClr val="000000"/>
              </a:solidFill>
              <a:latin typeface="Times New Roman"/>
              <a:ea typeface="Times New Roman"/>
              <a:cs typeface="Times New Roman"/>
              <a:sym typeface="Times New Roman"/>
            </a:endParaRPr>
          </a:p>
          <a:p>
            <a:pPr indent="-114300" lvl="0" marL="628650" rtl="0" algn="l">
              <a:lnSpc>
                <a:spcPct val="100000"/>
              </a:lnSpc>
              <a:spcBef>
                <a:spcPts val="1200"/>
              </a:spcBef>
              <a:spcAft>
                <a:spcPts val="0"/>
              </a:spcAft>
              <a:buSzPts val="1400"/>
              <a:buNone/>
            </a:pPr>
            <a:r>
              <a:rPr b="1" lang="en" sz="1000">
                <a:solidFill>
                  <a:srgbClr val="000000"/>
                </a:solidFill>
                <a:latin typeface="Times New Roman"/>
                <a:ea typeface="Times New Roman"/>
                <a:cs typeface="Times New Roman"/>
                <a:sym typeface="Times New Roman"/>
              </a:rPr>
              <a:t>   Step 3:</a:t>
            </a:r>
            <a:r>
              <a:rPr lang="en" sz="1000">
                <a:solidFill>
                  <a:srgbClr val="000000"/>
                </a:solidFill>
                <a:latin typeface="Times New Roman"/>
                <a:ea typeface="Times New Roman"/>
                <a:cs typeface="Times New Roman"/>
                <a:sym typeface="Times New Roman"/>
              </a:rPr>
              <a:t> If two lanes have the same clearance time, pick the lane that </a:t>
            </a:r>
            <a:r>
              <a:rPr b="1" lang="en" sz="1000">
                <a:solidFill>
                  <a:srgbClr val="000000"/>
                </a:solidFill>
                <a:latin typeface="Times New Roman"/>
                <a:ea typeface="Times New Roman"/>
                <a:cs typeface="Times New Roman"/>
                <a:sym typeface="Times New Roman"/>
              </a:rPr>
              <a:t>has been waiting the longest.</a:t>
            </a:r>
            <a:endParaRPr b="1" sz="1000">
              <a:solidFill>
                <a:srgbClr val="000000"/>
              </a:solidFill>
              <a:latin typeface="Times New Roman"/>
              <a:ea typeface="Times New Roman"/>
              <a:cs typeface="Times New Roman"/>
              <a:sym typeface="Times New Roman"/>
            </a:endParaRPr>
          </a:p>
          <a:p>
            <a:pPr indent="-177800" lvl="0" marL="628650" rtl="0" algn="l">
              <a:lnSpc>
                <a:spcPct val="115000"/>
              </a:lnSpc>
              <a:spcBef>
                <a:spcPts val="1200"/>
              </a:spcBef>
              <a:spcAft>
                <a:spcPts val="0"/>
              </a:spcAft>
              <a:buClr>
                <a:srgbClr val="000000"/>
              </a:buClr>
              <a:buSzPts val="1000"/>
              <a:buFont typeface="Times New Roman"/>
              <a:buAutoNum type="arabicPeriod"/>
            </a:pPr>
            <a:r>
              <a:rPr b="1" lang="en" sz="1000">
                <a:solidFill>
                  <a:srgbClr val="000000"/>
                </a:solidFill>
                <a:latin typeface="Times New Roman"/>
                <a:ea typeface="Times New Roman"/>
                <a:cs typeface="Times New Roman"/>
                <a:sym typeface="Times New Roman"/>
              </a:rPr>
              <a:t>Real-Time Dynamic Updates.</a:t>
            </a:r>
            <a:endParaRPr b="1" sz="1000">
              <a:solidFill>
                <a:srgbClr val="000000"/>
              </a:solidFill>
              <a:latin typeface="Times New Roman"/>
              <a:ea typeface="Times New Roman"/>
              <a:cs typeface="Times New Roman"/>
              <a:sym typeface="Times New Roman"/>
            </a:endParaRPr>
          </a:p>
          <a:p>
            <a:pPr indent="-304800" lvl="0" marL="457200" rtl="0" algn="just">
              <a:lnSpc>
                <a:spcPct val="115000"/>
              </a:lnSpc>
              <a:spcBef>
                <a:spcPts val="1000"/>
              </a:spcBef>
              <a:spcAft>
                <a:spcPts val="0"/>
              </a:spcAft>
              <a:buClr>
                <a:srgbClr val="000000"/>
              </a:buClr>
              <a:buSzPts val="1200"/>
              <a:buFont typeface="Times New Roman"/>
              <a:buChar char="❏"/>
            </a:pPr>
            <a:r>
              <a:rPr b="1" lang="en" sz="1200">
                <a:solidFill>
                  <a:srgbClr val="000000"/>
                </a:solidFill>
                <a:latin typeface="Times New Roman"/>
                <a:ea typeface="Times New Roman"/>
                <a:cs typeface="Times New Roman"/>
                <a:sym typeface="Times New Roman"/>
              </a:rPr>
              <a:t>Features of  Shortest Remaining Time First (SRTF):</a:t>
            </a:r>
            <a:endParaRPr b="1" sz="1200">
              <a:solidFill>
                <a:srgbClr val="000000"/>
              </a:solidFill>
              <a:latin typeface="Times New Roman"/>
              <a:ea typeface="Times New Roman"/>
              <a:cs typeface="Times New Roman"/>
              <a:sym typeface="Times New Roman"/>
            </a:endParaRPr>
          </a:p>
          <a:p>
            <a:pPr indent="-304800" lvl="0" marL="457200" rtl="0" algn="just">
              <a:lnSpc>
                <a:spcPct val="115000"/>
              </a:lnSpc>
              <a:spcBef>
                <a:spcPts val="1000"/>
              </a:spcBef>
              <a:spcAft>
                <a:spcPts val="0"/>
              </a:spcAft>
              <a:buClr>
                <a:srgbClr val="000000"/>
              </a:buClr>
              <a:buSzPts val="1200"/>
              <a:buFont typeface="Times New Roman"/>
              <a:buChar char="●"/>
            </a:pPr>
            <a:r>
              <a:rPr b="1" lang="en" sz="1000">
                <a:solidFill>
                  <a:srgbClr val="000000"/>
                </a:solidFill>
                <a:latin typeface="Times New Roman"/>
                <a:ea typeface="Times New Roman"/>
                <a:cs typeface="Times New Roman"/>
                <a:sym typeface="Times New Roman"/>
              </a:rPr>
              <a:t>Minimizes total waiting time</a:t>
            </a:r>
            <a:r>
              <a:rPr lang="en" sz="1000">
                <a:solidFill>
                  <a:srgbClr val="000000"/>
                </a:solidFill>
                <a:latin typeface="Times New Roman"/>
                <a:ea typeface="Times New Roman"/>
                <a:cs typeface="Times New Roman"/>
                <a:sym typeface="Times New Roman"/>
              </a:rPr>
              <a:t> by clearing lanes with the shortest clearance time first.</a:t>
            </a:r>
            <a:endParaRPr sz="1200">
              <a:solidFill>
                <a:srgbClr val="000000"/>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rgbClr val="000000"/>
              </a:buClr>
              <a:buSzPts val="1200"/>
              <a:buFont typeface="Times New Roman"/>
              <a:buChar char="●"/>
            </a:pPr>
            <a:r>
              <a:rPr lang="en" sz="1000">
                <a:solidFill>
                  <a:srgbClr val="000000"/>
                </a:solidFill>
                <a:latin typeface="Times New Roman"/>
                <a:ea typeface="Times New Roman"/>
                <a:cs typeface="Times New Roman"/>
                <a:sym typeface="Times New Roman"/>
              </a:rPr>
              <a:t>Ensures </a:t>
            </a:r>
            <a:r>
              <a:rPr b="1" lang="en" sz="1000">
                <a:solidFill>
                  <a:srgbClr val="000000"/>
                </a:solidFill>
                <a:latin typeface="Times New Roman"/>
                <a:ea typeface="Times New Roman"/>
                <a:cs typeface="Times New Roman"/>
                <a:sym typeface="Times New Roman"/>
              </a:rPr>
              <a:t>faster movement of vehicles</a:t>
            </a:r>
            <a:r>
              <a:rPr lang="en" sz="1000">
                <a:solidFill>
                  <a:srgbClr val="000000"/>
                </a:solidFill>
                <a:latin typeface="Times New Roman"/>
                <a:ea typeface="Times New Roman"/>
                <a:cs typeface="Times New Roman"/>
                <a:sym typeface="Times New Roman"/>
              </a:rPr>
              <a:t>, reducing congestion.</a:t>
            </a:r>
            <a:endParaRPr sz="1200">
              <a:solidFill>
                <a:srgbClr val="000000"/>
              </a:solidFill>
              <a:latin typeface="Times New Roman"/>
              <a:ea typeface="Times New Roman"/>
              <a:cs typeface="Times New Roman"/>
              <a:sym typeface="Times New Roman"/>
            </a:endParaRPr>
          </a:p>
          <a:p>
            <a:pPr indent="-311150" lvl="0" marL="457200" rtl="0" algn="just">
              <a:lnSpc>
                <a:spcPct val="115000"/>
              </a:lnSpc>
              <a:spcBef>
                <a:spcPts val="0"/>
              </a:spcBef>
              <a:spcAft>
                <a:spcPts val="0"/>
              </a:spcAft>
              <a:buClr>
                <a:srgbClr val="000000"/>
              </a:buClr>
              <a:buSzPts val="1300"/>
              <a:buFont typeface="Arial"/>
              <a:buChar char="●"/>
            </a:pPr>
            <a:r>
              <a:rPr lang="en" sz="1000">
                <a:solidFill>
                  <a:srgbClr val="000000"/>
                </a:solidFill>
                <a:latin typeface="Times New Roman"/>
                <a:ea typeface="Times New Roman"/>
                <a:cs typeface="Times New Roman"/>
                <a:sym typeface="Times New Roman"/>
              </a:rPr>
              <a:t>Prioritizes lanes </a:t>
            </a:r>
            <a:r>
              <a:rPr b="1" lang="en" sz="1000">
                <a:solidFill>
                  <a:srgbClr val="000000"/>
                </a:solidFill>
                <a:latin typeface="Times New Roman"/>
                <a:ea typeface="Times New Roman"/>
                <a:cs typeface="Times New Roman"/>
                <a:sym typeface="Times New Roman"/>
              </a:rPr>
              <a:t>based on token-based clearance estimation</a:t>
            </a:r>
            <a:r>
              <a:rPr lang="en" sz="1000">
                <a:solidFill>
                  <a:srgbClr val="000000"/>
                </a:solidFill>
                <a:latin typeface="Times New Roman"/>
                <a:ea typeface="Times New Roman"/>
                <a:cs typeface="Times New Roman"/>
                <a:sym typeface="Times New Roman"/>
              </a:rPr>
              <a:t>.</a:t>
            </a:r>
            <a:r>
              <a:rPr lang="en" sz="1300">
                <a:solidFill>
                  <a:srgbClr val="000000"/>
                </a:solidFill>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Dynamic Traffic Light Timing System</a:t>
            </a:r>
            <a:endParaRPr/>
          </a:p>
        </p:txBody>
      </p:sp>
      <p:sp>
        <p:nvSpPr>
          <p:cNvPr id="124" name="Google Shape;124;p22"/>
          <p:cNvSpPr txBox="1"/>
          <p:nvPr>
            <p:ph idx="1" type="body"/>
          </p:nvPr>
        </p:nvSpPr>
        <p:spPr>
          <a:xfrm>
            <a:off x="311700" y="1396775"/>
            <a:ext cx="7099500" cy="3749700"/>
          </a:xfrm>
          <a:prstGeom prst="rect">
            <a:avLst/>
          </a:prstGeom>
          <a:noFill/>
          <a:ln>
            <a:noFill/>
          </a:ln>
        </p:spPr>
        <p:txBody>
          <a:bodyPr anchorCtr="0" anchor="t" bIns="91425" lIns="91425" spcFirstLastPara="1" rIns="91425" wrap="square" tIns="91425">
            <a:spAutoFit/>
          </a:bodyPr>
          <a:lstStyle/>
          <a:p>
            <a:pPr indent="-330200" lvl="0" marL="457200" rtl="0" algn="just">
              <a:lnSpc>
                <a:spcPct val="115000"/>
              </a:lnSpc>
              <a:spcBef>
                <a:spcPts val="1200"/>
              </a:spcBef>
              <a:spcAft>
                <a:spcPts val="0"/>
              </a:spcAft>
              <a:buClr>
                <a:srgbClr val="000000"/>
              </a:buClr>
              <a:buSzPts val="1600"/>
              <a:buFont typeface="Times New Roman"/>
              <a:buChar char="❏"/>
            </a:pPr>
            <a:r>
              <a:rPr b="1" lang="en" sz="1600">
                <a:solidFill>
                  <a:srgbClr val="000000"/>
                </a:solidFill>
                <a:latin typeface="Times New Roman"/>
                <a:ea typeface="Times New Roman"/>
                <a:cs typeface="Times New Roman"/>
                <a:sym typeface="Times New Roman"/>
              </a:rPr>
              <a:t>How Dynamic Traffic Light Timing  system works </a:t>
            </a:r>
            <a:endParaRPr b="1" sz="1600">
              <a:solidFill>
                <a:srgbClr val="000000"/>
              </a:solidFill>
              <a:latin typeface="Times New Roman"/>
              <a:ea typeface="Times New Roman"/>
              <a:cs typeface="Times New Roman"/>
              <a:sym typeface="Times New Roman"/>
            </a:endParaRPr>
          </a:p>
          <a:p>
            <a:pPr indent="-215900" lvl="0" marL="628650" rtl="0" algn="just">
              <a:lnSpc>
                <a:spcPct val="115000"/>
              </a:lnSpc>
              <a:spcBef>
                <a:spcPts val="100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Eg:</a:t>
            </a:r>
            <a:r>
              <a:rPr b="1" lang="en" sz="1600">
                <a:solidFill>
                  <a:srgbClr val="000000"/>
                </a:solidFill>
                <a:latin typeface="Times New Roman"/>
                <a:ea typeface="Times New Roman"/>
                <a:cs typeface="Times New Roman"/>
                <a:sym typeface="Times New Roman"/>
              </a:rPr>
              <a:t> Normal token :</a:t>
            </a:r>
            <a:r>
              <a:rPr lang="en" sz="1600">
                <a:solidFill>
                  <a:srgbClr val="000000"/>
                </a:solidFill>
                <a:latin typeface="Times New Roman"/>
                <a:ea typeface="Times New Roman"/>
                <a:cs typeface="Times New Roman"/>
                <a:sym typeface="Times New Roman"/>
              </a:rPr>
              <a:t> BUS - 4 , CAR - 2, TRUCKS - 5, BIKE - 1. </a:t>
            </a:r>
            <a:endParaRPr sz="1600">
              <a:solidFill>
                <a:srgbClr val="000000"/>
              </a:solidFill>
              <a:latin typeface="Times New Roman"/>
              <a:ea typeface="Times New Roman"/>
              <a:cs typeface="Times New Roman"/>
              <a:sym typeface="Times New Roman"/>
            </a:endParaRPr>
          </a:p>
          <a:p>
            <a:pPr indent="-114300" lvl="0" marL="628650" rtl="0" algn="just">
              <a:lnSpc>
                <a:spcPct val="115000"/>
              </a:lnSpc>
              <a:spcBef>
                <a:spcPts val="0"/>
              </a:spcBef>
              <a:spcAft>
                <a:spcPts val="0"/>
              </a:spcAft>
              <a:buSzPts val="1400"/>
              <a:buNone/>
            </a:pPr>
            <a:r>
              <a:rPr lang="en" sz="1600">
                <a:solidFill>
                  <a:srgbClr val="000000"/>
                </a:solidFill>
                <a:latin typeface="Times New Roman"/>
                <a:ea typeface="Times New Roman"/>
                <a:cs typeface="Times New Roman"/>
                <a:sym typeface="Times New Roman"/>
              </a:rPr>
              <a:t>          </a:t>
            </a:r>
            <a:r>
              <a:rPr b="1" lang="en" sz="1600">
                <a:solidFill>
                  <a:srgbClr val="000000"/>
                </a:solidFill>
                <a:latin typeface="Times New Roman"/>
                <a:ea typeface="Times New Roman"/>
                <a:cs typeface="Times New Roman"/>
                <a:sym typeface="Times New Roman"/>
              </a:rPr>
              <a:t>Special token :</a:t>
            </a:r>
            <a:r>
              <a:rPr lang="en" sz="1600">
                <a:solidFill>
                  <a:srgbClr val="000000"/>
                </a:solidFill>
                <a:latin typeface="Times New Roman"/>
                <a:ea typeface="Times New Roman"/>
                <a:cs typeface="Times New Roman"/>
                <a:sym typeface="Times New Roman"/>
              </a:rPr>
              <a:t> Ambulance (Emergency Vehicle) - 5.</a:t>
            </a:r>
            <a:endParaRPr sz="1600">
              <a:solidFill>
                <a:srgbClr val="000000"/>
              </a:solidFill>
              <a:latin typeface="Times New Roman"/>
              <a:ea typeface="Times New Roman"/>
              <a:cs typeface="Times New Roman"/>
              <a:sym typeface="Times New Roman"/>
            </a:endParaRPr>
          </a:p>
          <a:p>
            <a:pPr indent="-215900" lvl="0" marL="628650" rtl="0" algn="just">
              <a:lnSpc>
                <a:spcPct val="115000"/>
              </a:lnSpc>
              <a:spcBef>
                <a:spcPts val="100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If No Emergency Vehicles, </a:t>
            </a:r>
            <a:endParaRPr sz="1600">
              <a:solidFill>
                <a:srgbClr val="000000"/>
              </a:solidFill>
              <a:latin typeface="Times New Roman"/>
              <a:ea typeface="Times New Roman"/>
              <a:cs typeface="Times New Roman"/>
              <a:sym typeface="Times New Roman"/>
            </a:endParaRPr>
          </a:p>
          <a:p>
            <a:pPr indent="457200" lvl="0" marL="0" rtl="0" algn="just">
              <a:lnSpc>
                <a:spcPct val="115000"/>
              </a:lnSpc>
              <a:spcBef>
                <a:spcPts val="1000"/>
              </a:spcBef>
              <a:spcAft>
                <a:spcPts val="0"/>
              </a:spcAft>
              <a:buSzPts val="1400"/>
              <a:buNone/>
            </a:pPr>
            <a:r>
              <a:rPr b="1" lang="en" sz="1600">
                <a:solidFill>
                  <a:srgbClr val="000000"/>
                </a:solidFill>
                <a:latin typeface="Times New Roman"/>
                <a:ea typeface="Times New Roman"/>
                <a:cs typeface="Times New Roman"/>
                <a:sym typeface="Times New Roman"/>
              </a:rPr>
              <a:t>     It provides special delay which prevents from frequent change in </a:t>
            </a:r>
            <a:endParaRPr b="1" sz="1600">
              <a:solidFill>
                <a:srgbClr val="000000"/>
              </a:solidFill>
              <a:latin typeface="Times New Roman"/>
              <a:ea typeface="Times New Roman"/>
              <a:cs typeface="Times New Roman"/>
              <a:sym typeface="Times New Roman"/>
            </a:endParaRPr>
          </a:p>
          <a:p>
            <a:pPr indent="457200" lvl="0" marL="0" rtl="0" algn="just">
              <a:lnSpc>
                <a:spcPct val="115000"/>
              </a:lnSpc>
              <a:spcBef>
                <a:spcPts val="0"/>
              </a:spcBef>
              <a:spcAft>
                <a:spcPts val="0"/>
              </a:spcAft>
              <a:buSzPts val="1400"/>
              <a:buNone/>
            </a:pPr>
            <a:r>
              <a:rPr b="1" lang="en" sz="1600">
                <a:solidFill>
                  <a:srgbClr val="000000"/>
                </a:solidFill>
                <a:latin typeface="Times New Roman"/>
                <a:ea typeface="Times New Roman"/>
                <a:cs typeface="Times New Roman"/>
                <a:sym typeface="Times New Roman"/>
              </a:rPr>
              <a:t>     signals.</a:t>
            </a:r>
            <a:endParaRPr sz="1600">
              <a:solidFill>
                <a:srgbClr val="000000"/>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rgbClr val="000000"/>
              </a:buClr>
              <a:buSzPts val="1600"/>
              <a:buFont typeface="Times New Roman"/>
              <a:buChar char="❏"/>
            </a:pPr>
            <a:r>
              <a:rPr b="1" lang="en" sz="1600">
                <a:solidFill>
                  <a:srgbClr val="000000"/>
                </a:solidFill>
                <a:latin typeface="Times New Roman"/>
                <a:ea typeface="Times New Roman"/>
                <a:cs typeface="Times New Roman"/>
                <a:sym typeface="Times New Roman"/>
              </a:rPr>
              <a:t>Features of Dynamic Traffic Light Timing  system :</a:t>
            </a:r>
            <a:endParaRPr b="1" sz="1600">
              <a:solidFill>
                <a:srgbClr val="000000"/>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rgbClr val="000000"/>
              </a:buClr>
              <a:buSzPts val="1600"/>
              <a:buFont typeface="Arial"/>
              <a:buChar char="●"/>
            </a:pPr>
            <a:r>
              <a:rPr lang="en" sz="1600">
                <a:solidFill>
                  <a:srgbClr val="000000"/>
                </a:solidFill>
                <a:latin typeface="Times New Roman"/>
                <a:ea typeface="Times New Roman"/>
                <a:cs typeface="Times New Roman"/>
                <a:sym typeface="Times New Roman"/>
              </a:rPr>
              <a:t>Prevents unnecessary long waits at signals.</a:t>
            </a:r>
            <a:endParaRPr sz="1600">
              <a:solidFill>
                <a:srgbClr val="000000"/>
              </a:solidFill>
              <a:latin typeface="Times New Roman"/>
              <a:ea typeface="Times New Roman"/>
              <a:cs typeface="Times New Roman"/>
              <a:sym typeface="Times New Roman"/>
            </a:endParaRPr>
          </a:p>
          <a:p>
            <a:pPr indent="-330200" lvl="0" marL="457200" rtl="0" algn="just">
              <a:lnSpc>
                <a:spcPct val="115000"/>
              </a:lnSpc>
              <a:spcBef>
                <a:spcPts val="1000"/>
              </a:spcBef>
              <a:spcAft>
                <a:spcPts val="1000"/>
              </a:spcAft>
              <a:buClr>
                <a:srgbClr val="000000"/>
              </a:buClr>
              <a:buSzPts val="1600"/>
              <a:buFont typeface="Arial"/>
              <a:buChar char="●"/>
            </a:pPr>
            <a:r>
              <a:rPr lang="en" sz="1600">
                <a:solidFill>
                  <a:srgbClr val="000000"/>
                </a:solidFill>
                <a:latin typeface="Times New Roman"/>
                <a:ea typeface="Times New Roman"/>
                <a:cs typeface="Times New Roman"/>
                <a:sym typeface="Times New Roman"/>
              </a:rPr>
              <a:t>Ensures efficient traffic flow and reduces frequent change in signals by inserting delays.</a:t>
            </a:r>
            <a:endParaRPr sz="1600"/>
          </a:p>
        </p:txBody>
      </p:sp>
      <p:pic>
        <p:nvPicPr>
          <p:cNvPr id="125" name="Google Shape;125;p22"/>
          <p:cNvPicPr preferRelativeResize="0"/>
          <p:nvPr/>
        </p:nvPicPr>
        <p:blipFill rotWithShape="1">
          <a:blip r:embed="rId3">
            <a:alphaModFix/>
          </a:blip>
          <a:srcRect b="0" l="0" r="0" t="0"/>
          <a:stretch/>
        </p:blipFill>
        <p:spPr>
          <a:xfrm>
            <a:off x="6450575" y="1107475"/>
            <a:ext cx="2610326" cy="173954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YOLO 8</a:t>
            </a:r>
            <a:endParaRPr/>
          </a:p>
        </p:txBody>
      </p:sp>
      <p:sp>
        <p:nvSpPr>
          <p:cNvPr id="131" name="Google Shape;131;p23"/>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0000"/>
                </a:solidFill>
                <a:latin typeface="Book Antiqua"/>
                <a:ea typeface="Book Antiqua"/>
                <a:cs typeface="Book Antiqua"/>
                <a:sym typeface="Book Antiqua"/>
              </a:rPr>
              <a:t>Accuracy : 70.7317</a:t>
            </a:r>
            <a:r>
              <a:rPr lang="en">
                <a:solidFill>
                  <a:srgbClr val="000000"/>
                </a:solidFill>
                <a:latin typeface="Book Antiqua"/>
                <a:ea typeface="Book Antiqua"/>
                <a:cs typeface="Book Antiqua"/>
                <a:sym typeface="Book Antiqua"/>
              </a:rPr>
              <a:t> %</a:t>
            </a:r>
            <a:endParaRPr>
              <a:solidFill>
                <a:srgbClr val="000000"/>
              </a:solidFill>
              <a:latin typeface="Book Antiqua"/>
              <a:ea typeface="Book Antiqua"/>
              <a:cs typeface="Book Antiqua"/>
              <a:sym typeface="Book Antiqua"/>
            </a:endParaRPr>
          </a:p>
        </p:txBody>
      </p:sp>
      <p:sp>
        <p:nvSpPr>
          <p:cNvPr id="132" name="Google Shape;132;p23"/>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133" name="Google Shape;133;p23"/>
          <p:cNvPicPr preferRelativeResize="0"/>
          <p:nvPr/>
        </p:nvPicPr>
        <p:blipFill>
          <a:blip r:embed="rId3">
            <a:alphaModFix/>
          </a:blip>
          <a:stretch>
            <a:fillRect/>
          </a:stretch>
        </p:blipFill>
        <p:spPr>
          <a:xfrm>
            <a:off x="2974150" y="445025"/>
            <a:ext cx="5943600" cy="4457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YOLO 9</a:t>
            </a:r>
            <a:endParaRPr/>
          </a:p>
        </p:txBody>
      </p:sp>
      <p:sp>
        <p:nvSpPr>
          <p:cNvPr id="139" name="Google Shape;139;p2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000000"/>
                </a:solidFill>
                <a:latin typeface="Book Antiqua"/>
                <a:ea typeface="Book Antiqua"/>
                <a:cs typeface="Book Antiqua"/>
                <a:sym typeface="Book Antiqua"/>
              </a:rPr>
              <a:t>Accuracy : 68.8623 %</a:t>
            </a:r>
            <a:endParaRPr sz="1600">
              <a:solidFill>
                <a:srgbClr val="000000"/>
              </a:solidFill>
              <a:latin typeface="Book Antiqua"/>
              <a:ea typeface="Book Antiqua"/>
              <a:cs typeface="Book Antiqua"/>
              <a:sym typeface="Book Antiqua"/>
            </a:endParaRPr>
          </a:p>
          <a:p>
            <a:pPr indent="0" lvl="0" marL="0" rtl="0" algn="l">
              <a:spcBef>
                <a:spcPts val="0"/>
              </a:spcBef>
              <a:spcAft>
                <a:spcPts val="0"/>
              </a:spcAft>
              <a:buNone/>
            </a:pPr>
            <a:r>
              <a:t/>
            </a:r>
            <a:endParaRPr/>
          </a:p>
        </p:txBody>
      </p:sp>
      <p:sp>
        <p:nvSpPr>
          <p:cNvPr id="140" name="Google Shape;140;p2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141" name="Google Shape;141;p24"/>
          <p:cNvPicPr preferRelativeResize="0"/>
          <p:nvPr/>
        </p:nvPicPr>
        <p:blipFill>
          <a:blip r:embed="rId3">
            <a:alphaModFix/>
          </a:blip>
          <a:stretch>
            <a:fillRect/>
          </a:stretch>
        </p:blipFill>
        <p:spPr>
          <a:xfrm>
            <a:off x="2976250" y="549625"/>
            <a:ext cx="5943600" cy="4457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YOLO 11</a:t>
            </a:r>
            <a:endParaRPr/>
          </a:p>
        </p:txBody>
      </p:sp>
      <p:sp>
        <p:nvSpPr>
          <p:cNvPr id="147" name="Google Shape;147;p2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000000"/>
                </a:solidFill>
                <a:latin typeface="Book Antiqua"/>
                <a:ea typeface="Book Antiqua"/>
                <a:cs typeface="Book Antiqua"/>
                <a:sym typeface="Book Antiqua"/>
              </a:rPr>
              <a:t>Accuracy : 46.6667 %</a:t>
            </a:r>
            <a:endParaRPr sz="1600">
              <a:solidFill>
                <a:srgbClr val="000000"/>
              </a:solidFill>
              <a:latin typeface="Book Antiqua"/>
              <a:ea typeface="Book Antiqua"/>
              <a:cs typeface="Book Antiqua"/>
              <a:sym typeface="Book Antiqua"/>
            </a:endParaRPr>
          </a:p>
          <a:p>
            <a:pPr indent="0" lvl="0" marL="0" rtl="0" algn="l">
              <a:spcBef>
                <a:spcPts val="0"/>
              </a:spcBef>
              <a:spcAft>
                <a:spcPts val="0"/>
              </a:spcAft>
              <a:buNone/>
            </a:pPr>
            <a:r>
              <a:t/>
            </a:r>
            <a:endParaRPr/>
          </a:p>
        </p:txBody>
      </p:sp>
      <p:sp>
        <p:nvSpPr>
          <p:cNvPr id="148" name="Google Shape;148;p2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149" name="Google Shape;149;p25"/>
          <p:cNvPicPr preferRelativeResize="0"/>
          <p:nvPr/>
        </p:nvPicPr>
        <p:blipFill>
          <a:blip r:embed="rId3">
            <a:alphaModFix/>
          </a:blip>
          <a:stretch>
            <a:fillRect/>
          </a:stretch>
        </p:blipFill>
        <p:spPr>
          <a:xfrm>
            <a:off x="2561100" y="208175"/>
            <a:ext cx="6705700" cy="5029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Difference Between Yolo Versions</a:t>
            </a:r>
            <a:endParaRPr/>
          </a:p>
        </p:txBody>
      </p:sp>
      <p:sp>
        <p:nvSpPr>
          <p:cNvPr id="155" name="Google Shape;155;p26"/>
          <p:cNvSpPr txBox="1"/>
          <p:nvPr>
            <p:ph idx="1" type="body"/>
          </p:nvPr>
        </p:nvSpPr>
        <p:spPr>
          <a:xfrm>
            <a:off x="311700" y="1152475"/>
            <a:ext cx="84147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solidFill>
                  <a:srgbClr val="000000"/>
                </a:solidFill>
                <a:latin typeface="Book Antiqua"/>
                <a:ea typeface="Book Antiqua"/>
                <a:cs typeface="Book Antiqua"/>
                <a:sym typeface="Book Antiqua"/>
              </a:rPr>
              <a:t>So This is how our dataset </a:t>
            </a:r>
            <a:r>
              <a:rPr b="1" lang="en" sz="1600">
                <a:solidFill>
                  <a:srgbClr val="000000"/>
                </a:solidFill>
                <a:latin typeface="Book Antiqua"/>
                <a:ea typeface="Book Antiqua"/>
                <a:cs typeface="Book Antiqua"/>
                <a:sym typeface="Book Antiqua"/>
              </a:rPr>
              <a:t>performs</a:t>
            </a:r>
            <a:r>
              <a:rPr b="1" lang="en" sz="1600">
                <a:solidFill>
                  <a:srgbClr val="000000"/>
                </a:solidFill>
                <a:latin typeface="Book Antiqua"/>
                <a:ea typeface="Book Antiqua"/>
                <a:cs typeface="Book Antiqua"/>
                <a:sym typeface="Book Antiqua"/>
              </a:rPr>
              <a:t> on different yolo versions</a:t>
            </a:r>
            <a:endParaRPr b="1" sz="1600">
              <a:solidFill>
                <a:srgbClr val="000000"/>
              </a:solidFill>
              <a:latin typeface="Book Antiqua"/>
              <a:ea typeface="Book Antiqua"/>
              <a:cs typeface="Book Antiqua"/>
              <a:sym typeface="Book Antiqua"/>
            </a:endParaRPr>
          </a:p>
        </p:txBody>
      </p:sp>
      <p:pic>
        <p:nvPicPr>
          <p:cNvPr id="156" name="Google Shape;156;p26"/>
          <p:cNvPicPr preferRelativeResize="0"/>
          <p:nvPr/>
        </p:nvPicPr>
        <p:blipFill>
          <a:blip r:embed="rId3">
            <a:alphaModFix/>
          </a:blip>
          <a:stretch>
            <a:fillRect/>
          </a:stretch>
        </p:blipFill>
        <p:spPr>
          <a:xfrm>
            <a:off x="485075" y="1762150"/>
            <a:ext cx="7562850" cy="304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218925" y="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2800"/>
              <a:buNone/>
            </a:pPr>
            <a:r>
              <a:rPr lang="en"/>
              <a:t>Detailed Architecture</a:t>
            </a:r>
            <a:endParaRPr/>
          </a:p>
        </p:txBody>
      </p:sp>
      <p:pic>
        <p:nvPicPr>
          <p:cNvPr id="162" name="Google Shape;162;p27"/>
          <p:cNvPicPr preferRelativeResize="0"/>
          <p:nvPr/>
        </p:nvPicPr>
        <p:blipFill>
          <a:blip r:embed="rId3">
            <a:alphaModFix/>
          </a:blip>
          <a:stretch>
            <a:fillRect/>
          </a:stretch>
        </p:blipFill>
        <p:spPr>
          <a:xfrm>
            <a:off x="547688" y="572700"/>
            <a:ext cx="8048625" cy="4533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400800" y="187025"/>
            <a:ext cx="8496900" cy="90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Hardware, Software, Tools and constraint</a:t>
            </a:r>
            <a:endParaRPr/>
          </a:p>
        </p:txBody>
      </p:sp>
      <p:sp>
        <p:nvSpPr>
          <p:cNvPr id="168" name="Google Shape;168;p28"/>
          <p:cNvSpPr txBox="1"/>
          <p:nvPr>
            <p:ph idx="1" type="body"/>
          </p:nvPr>
        </p:nvSpPr>
        <p:spPr>
          <a:xfrm>
            <a:off x="325075" y="1312775"/>
            <a:ext cx="39999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Clr>
                <a:srgbClr val="000000"/>
              </a:buClr>
              <a:buSzPts val="1600"/>
              <a:buFont typeface="Times New Roman"/>
              <a:buChar char="➔"/>
            </a:pPr>
            <a:r>
              <a:rPr b="1" lang="en" sz="1600">
                <a:solidFill>
                  <a:srgbClr val="000000"/>
                </a:solidFill>
                <a:latin typeface="Times New Roman"/>
                <a:ea typeface="Times New Roman"/>
                <a:cs typeface="Times New Roman"/>
                <a:sym typeface="Times New Roman"/>
              </a:rPr>
              <a:t>Hardware Requirements:</a:t>
            </a:r>
            <a:endParaRPr b="1" sz="1600">
              <a:solidFill>
                <a:srgbClr val="000000"/>
              </a:solidFill>
              <a:latin typeface="Times New Roman"/>
              <a:ea typeface="Times New Roman"/>
              <a:cs typeface="Times New Roman"/>
              <a:sym typeface="Times New Roman"/>
            </a:endParaRPr>
          </a:p>
          <a:p>
            <a:pPr indent="0" lvl="0" marL="457200" rtl="0" algn="l">
              <a:lnSpc>
                <a:spcPct val="100000"/>
              </a:lnSpc>
              <a:spcBef>
                <a:spcPts val="0"/>
              </a:spcBef>
              <a:spcAft>
                <a:spcPts val="0"/>
              </a:spcAft>
              <a:buSzPts val="1400"/>
              <a:buNone/>
            </a:pPr>
            <a:r>
              <a:t/>
            </a:r>
            <a:endParaRPr b="1" sz="1600">
              <a:solidFill>
                <a:srgbClr val="000000"/>
              </a:solidFill>
              <a:latin typeface="Times New Roman"/>
              <a:ea typeface="Times New Roman"/>
              <a:cs typeface="Times New Roman"/>
              <a:sym typeface="Times New Roman"/>
            </a:endParaRPr>
          </a:p>
          <a:p>
            <a:pPr indent="-215900" lvl="0" marL="514350" rtl="0" algn="l">
              <a:lnSpc>
                <a:spcPct val="150000"/>
              </a:lnSpc>
              <a:spcBef>
                <a:spcPts val="0"/>
              </a:spcBef>
              <a:spcAft>
                <a:spcPts val="0"/>
              </a:spcAft>
              <a:buClr>
                <a:srgbClr val="000000"/>
              </a:buClr>
              <a:buSzPts val="1600"/>
              <a:buFont typeface="Times New Roman"/>
              <a:buAutoNum type="arabicPeriod"/>
            </a:pPr>
            <a:r>
              <a:rPr b="1" lang="en" sz="1600">
                <a:solidFill>
                  <a:srgbClr val="000000"/>
                </a:solidFill>
                <a:latin typeface="Times New Roman"/>
                <a:ea typeface="Times New Roman"/>
                <a:cs typeface="Times New Roman"/>
                <a:sym typeface="Times New Roman"/>
              </a:rPr>
              <a:t>Processor</a:t>
            </a:r>
            <a:r>
              <a:rPr lang="en" sz="1600">
                <a:solidFill>
                  <a:srgbClr val="000000"/>
                </a:solidFill>
                <a:latin typeface="Times New Roman"/>
                <a:ea typeface="Times New Roman"/>
                <a:cs typeface="Times New Roman"/>
                <a:sym typeface="Times New Roman"/>
              </a:rPr>
              <a:t>: Multi-core CPU (e.g., Intel i7/i9,</a:t>
            </a:r>
            <a:r>
              <a:rPr lang="en" sz="1600">
                <a:solidFill>
                  <a:srgbClr val="000000"/>
                </a:solidFill>
                <a:latin typeface="Times New Roman"/>
                <a:ea typeface="Times New Roman"/>
                <a:cs typeface="Times New Roman"/>
                <a:sym typeface="Times New Roman"/>
              </a:rPr>
              <a:t>AMD Ryzen 7/9</a:t>
            </a:r>
            <a:r>
              <a:rPr lang="en" sz="1600">
                <a:solidFill>
                  <a:srgbClr val="000000"/>
                </a:solidFill>
                <a:latin typeface="Times New Roman"/>
                <a:ea typeface="Times New Roman"/>
                <a:cs typeface="Times New Roman"/>
                <a:sym typeface="Times New Roman"/>
              </a:rPr>
              <a:t>).</a:t>
            </a:r>
            <a:endParaRPr sz="1600">
              <a:solidFill>
                <a:srgbClr val="000000"/>
              </a:solidFill>
              <a:latin typeface="Times New Roman"/>
              <a:ea typeface="Times New Roman"/>
              <a:cs typeface="Times New Roman"/>
              <a:sym typeface="Times New Roman"/>
            </a:endParaRPr>
          </a:p>
          <a:p>
            <a:pPr indent="-215900" lvl="0" marL="514350" rtl="0" algn="l">
              <a:lnSpc>
                <a:spcPct val="150000"/>
              </a:lnSpc>
              <a:spcBef>
                <a:spcPts val="0"/>
              </a:spcBef>
              <a:spcAft>
                <a:spcPts val="0"/>
              </a:spcAft>
              <a:buClr>
                <a:srgbClr val="000000"/>
              </a:buClr>
              <a:buSzPts val="1600"/>
              <a:buFont typeface="Times New Roman"/>
              <a:buAutoNum type="arabicPeriod"/>
            </a:pPr>
            <a:r>
              <a:rPr b="1" lang="en" sz="1600">
                <a:solidFill>
                  <a:srgbClr val="000000"/>
                </a:solidFill>
                <a:latin typeface="Times New Roman"/>
                <a:ea typeface="Times New Roman"/>
                <a:cs typeface="Times New Roman"/>
                <a:sym typeface="Times New Roman"/>
              </a:rPr>
              <a:t>Memory</a:t>
            </a:r>
            <a:r>
              <a:rPr lang="en" sz="1600">
                <a:solidFill>
                  <a:srgbClr val="000000"/>
                </a:solidFill>
                <a:latin typeface="Times New Roman"/>
                <a:ea typeface="Times New Roman"/>
                <a:cs typeface="Times New Roman"/>
                <a:sym typeface="Times New Roman"/>
              </a:rPr>
              <a:t>: 16 to 32 GB RAM.</a:t>
            </a:r>
            <a:endParaRPr sz="1600">
              <a:solidFill>
                <a:srgbClr val="000000"/>
              </a:solidFill>
              <a:latin typeface="Times New Roman"/>
              <a:ea typeface="Times New Roman"/>
              <a:cs typeface="Times New Roman"/>
              <a:sym typeface="Times New Roman"/>
            </a:endParaRPr>
          </a:p>
          <a:p>
            <a:pPr indent="-215900" lvl="0" marL="514350" rtl="0" algn="l">
              <a:lnSpc>
                <a:spcPct val="150000"/>
              </a:lnSpc>
              <a:spcBef>
                <a:spcPts val="0"/>
              </a:spcBef>
              <a:spcAft>
                <a:spcPts val="0"/>
              </a:spcAft>
              <a:buClr>
                <a:srgbClr val="000000"/>
              </a:buClr>
              <a:buSzPts val="1600"/>
              <a:buFont typeface="Times New Roman"/>
              <a:buAutoNum type="arabicPeriod"/>
            </a:pPr>
            <a:r>
              <a:rPr b="1" lang="en" sz="1600">
                <a:solidFill>
                  <a:srgbClr val="000000"/>
                </a:solidFill>
                <a:latin typeface="Times New Roman"/>
                <a:ea typeface="Times New Roman"/>
                <a:cs typeface="Times New Roman"/>
                <a:sym typeface="Times New Roman"/>
              </a:rPr>
              <a:t>Storage</a:t>
            </a:r>
            <a:r>
              <a:rPr lang="en" sz="1600">
                <a:solidFill>
                  <a:srgbClr val="000000"/>
                </a:solidFill>
                <a:latin typeface="Times New Roman"/>
                <a:ea typeface="Times New Roman"/>
                <a:cs typeface="Times New Roman"/>
                <a:sym typeface="Times New Roman"/>
              </a:rPr>
              <a:t>: 100GB SSD</a:t>
            </a:r>
            <a:endParaRPr sz="1600">
              <a:solidFill>
                <a:srgbClr val="000000"/>
              </a:solidFill>
              <a:latin typeface="Times New Roman"/>
              <a:ea typeface="Times New Roman"/>
              <a:cs typeface="Times New Roman"/>
              <a:sym typeface="Times New Roman"/>
            </a:endParaRPr>
          </a:p>
          <a:p>
            <a:pPr indent="-215900" lvl="0" marL="514350" rtl="0" algn="l">
              <a:lnSpc>
                <a:spcPct val="150000"/>
              </a:lnSpc>
              <a:spcBef>
                <a:spcPts val="0"/>
              </a:spcBef>
              <a:spcAft>
                <a:spcPts val="0"/>
              </a:spcAft>
              <a:buClr>
                <a:srgbClr val="000000"/>
              </a:buClr>
              <a:buSzPts val="1600"/>
              <a:buFont typeface="Times New Roman"/>
              <a:buAutoNum type="arabicPeriod"/>
            </a:pPr>
            <a:r>
              <a:rPr b="1" lang="en" sz="1600">
                <a:solidFill>
                  <a:srgbClr val="000000"/>
                </a:solidFill>
                <a:latin typeface="Times New Roman"/>
                <a:ea typeface="Times New Roman"/>
                <a:cs typeface="Times New Roman"/>
                <a:sym typeface="Times New Roman"/>
              </a:rPr>
              <a:t>Components </a:t>
            </a:r>
            <a:r>
              <a:rPr lang="en" sz="1600">
                <a:solidFill>
                  <a:srgbClr val="000000"/>
                </a:solidFill>
                <a:latin typeface="Times New Roman"/>
                <a:ea typeface="Times New Roman"/>
                <a:cs typeface="Times New Roman"/>
                <a:sym typeface="Times New Roman"/>
              </a:rPr>
              <a:t>: GPS, Sensors,Raspberry Pi, NVIDIA Jetson Nano,ESP32 and relay modules,AWS, Registers,Raspberry Pi Camera,</a:t>
            </a:r>
            <a:endParaRPr sz="1600">
              <a:latin typeface="Times New Roman"/>
              <a:ea typeface="Times New Roman"/>
              <a:cs typeface="Times New Roman"/>
              <a:sym typeface="Times New Roman"/>
            </a:endParaRPr>
          </a:p>
        </p:txBody>
      </p:sp>
      <p:sp>
        <p:nvSpPr>
          <p:cNvPr id="169" name="Google Shape;169;p28"/>
          <p:cNvSpPr txBox="1"/>
          <p:nvPr>
            <p:ph idx="2" type="body"/>
          </p:nvPr>
        </p:nvSpPr>
        <p:spPr>
          <a:xfrm>
            <a:off x="4738900" y="1312775"/>
            <a:ext cx="39999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Clr>
                <a:srgbClr val="000000"/>
              </a:buClr>
              <a:buSzPts val="1600"/>
              <a:buFont typeface="Times New Roman"/>
              <a:buChar char="➔"/>
            </a:pPr>
            <a:r>
              <a:rPr b="1" lang="en" sz="1600">
                <a:solidFill>
                  <a:srgbClr val="000000"/>
                </a:solidFill>
                <a:latin typeface="Times New Roman"/>
                <a:ea typeface="Times New Roman"/>
                <a:cs typeface="Times New Roman"/>
                <a:sym typeface="Times New Roman"/>
              </a:rPr>
              <a:t>Software Requirements:</a:t>
            </a:r>
            <a:endParaRPr b="1" sz="1600">
              <a:solidFill>
                <a:srgbClr val="000000"/>
              </a:solidFill>
              <a:latin typeface="Times New Roman"/>
              <a:ea typeface="Times New Roman"/>
              <a:cs typeface="Times New Roman"/>
              <a:sym typeface="Times New Roman"/>
            </a:endParaRPr>
          </a:p>
          <a:p>
            <a:pPr indent="0" lvl="0" marL="457200" rtl="0" algn="l">
              <a:lnSpc>
                <a:spcPct val="100000"/>
              </a:lnSpc>
              <a:spcBef>
                <a:spcPts val="0"/>
              </a:spcBef>
              <a:spcAft>
                <a:spcPts val="0"/>
              </a:spcAft>
              <a:buSzPts val="1400"/>
              <a:buNone/>
            </a:pPr>
            <a:r>
              <a:t/>
            </a:r>
            <a:endParaRPr b="1" sz="1600">
              <a:solidFill>
                <a:srgbClr val="000000"/>
              </a:solidFill>
              <a:latin typeface="Times New Roman"/>
              <a:ea typeface="Times New Roman"/>
              <a:cs typeface="Times New Roman"/>
              <a:sym typeface="Times New Roman"/>
            </a:endParaRPr>
          </a:p>
          <a:p>
            <a:pPr indent="-215900" lvl="0" marL="800100" rtl="0" algn="l">
              <a:lnSpc>
                <a:spcPct val="150000"/>
              </a:lnSpc>
              <a:spcBef>
                <a:spcPts val="0"/>
              </a:spcBef>
              <a:spcAft>
                <a:spcPts val="0"/>
              </a:spcAft>
              <a:buClr>
                <a:srgbClr val="000000"/>
              </a:buClr>
              <a:buSzPts val="1600"/>
              <a:buFont typeface="Calibri"/>
              <a:buAutoNum type="arabicPeriod"/>
            </a:pPr>
            <a:r>
              <a:rPr b="1" lang="en" sz="1600">
                <a:solidFill>
                  <a:srgbClr val="000000"/>
                </a:solidFill>
                <a:latin typeface="Times New Roman"/>
                <a:ea typeface="Times New Roman"/>
                <a:cs typeface="Times New Roman"/>
                <a:sym typeface="Times New Roman"/>
              </a:rPr>
              <a:t>Algorithms: </a:t>
            </a:r>
            <a:r>
              <a:rPr lang="en" sz="1600">
                <a:solidFill>
                  <a:srgbClr val="000000"/>
                </a:solidFill>
                <a:latin typeface="Times New Roman"/>
                <a:ea typeface="Times New Roman"/>
                <a:cs typeface="Times New Roman"/>
                <a:sym typeface="Times New Roman"/>
              </a:rPr>
              <a:t>ML, Yolo Model</a:t>
            </a:r>
            <a:endParaRPr sz="1600">
              <a:solidFill>
                <a:srgbClr val="000000"/>
              </a:solidFill>
              <a:latin typeface="Times New Roman"/>
              <a:ea typeface="Times New Roman"/>
              <a:cs typeface="Times New Roman"/>
              <a:sym typeface="Times New Roman"/>
            </a:endParaRPr>
          </a:p>
          <a:p>
            <a:pPr indent="-215900" lvl="0" marL="800100" rtl="0" algn="l">
              <a:lnSpc>
                <a:spcPct val="150000"/>
              </a:lnSpc>
              <a:spcBef>
                <a:spcPts val="0"/>
              </a:spcBef>
              <a:spcAft>
                <a:spcPts val="0"/>
              </a:spcAft>
              <a:buClr>
                <a:srgbClr val="000000"/>
              </a:buClr>
              <a:buSzPts val="1600"/>
              <a:buFont typeface="Calibri"/>
              <a:buAutoNum type="arabicPeriod"/>
            </a:pPr>
            <a:r>
              <a:rPr b="1" lang="en" sz="1600">
                <a:solidFill>
                  <a:srgbClr val="000000"/>
                </a:solidFill>
                <a:latin typeface="Times New Roman"/>
                <a:ea typeface="Times New Roman"/>
                <a:cs typeface="Times New Roman"/>
                <a:sym typeface="Times New Roman"/>
              </a:rPr>
              <a:t>Frontend:</a:t>
            </a:r>
            <a:r>
              <a:rPr lang="en" sz="1600">
                <a:solidFill>
                  <a:srgbClr val="000000"/>
                </a:solidFill>
                <a:latin typeface="Times New Roman"/>
                <a:ea typeface="Times New Roman"/>
                <a:cs typeface="Times New Roman"/>
                <a:sym typeface="Times New Roman"/>
              </a:rPr>
              <a:t> HTML, CSS, ReactJs.</a:t>
            </a:r>
            <a:endParaRPr sz="1600">
              <a:solidFill>
                <a:srgbClr val="000000"/>
              </a:solidFill>
              <a:latin typeface="Times New Roman"/>
              <a:ea typeface="Times New Roman"/>
              <a:cs typeface="Times New Roman"/>
              <a:sym typeface="Times New Roman"/>
            </a:endParaRPr>
          </a:p>
          <a:p>
            <a:pPr indent="-215900" lvl="0" marL="800100" rtl="0" algn="l">
              <a:lnSpc>
                <a:spcPct val="150000"/>
              </a:lnSpc>
              <a:spcBef>
                <a:spcPts val="0"/>
              </a:spcBef>
              <a:spcAft>
                <a:spcPts val="0"/>
              </a:spcAft>
              <a:buClr>
                <a:srgbClr val="000000"/>
              </a:buClr>
              <a:buSzPts val="1600"/>
              <a:buFont typeface="Calibri"/>
              <a:buAutoNum type="arabicPeriod"/>
            </a:pPr>
            <a:r>
              <a:rPr b="1" lang="en" sz="1600">
                <a:solidFill>
                  <a:srgbClr val="000000"/>
                </a:solidFill>
                <a:latin typeface="Times New Roman"/>
                <a:ea typeface="Times New Roman"/>
                <a:cs typeface="Times New Roman"/>
                <a:sym typeface="Times New Roman"/>
              </a:rPr>
              <a:t>Backend: </a:t>
            </a:r>
            <a:r>
              <a:rPr lang="en" sz="1600">
                <a:solidFill>
                  <a:srgbClr val="000000"/>
                </a:solidFill>
                <a:latin typeface="Times New Roman"/>
                <a:ea typeface="Times New Roman"/>
                <a:cs typeface="Times New Roman"/>
                <a:sym typeface="Times New Roman"/>
              </a:rPr>
              <a:t>ExpressJs, MongoDB.</a:t>
            </a:r>
            <a:endParaRPr sz="16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rgbClr val="000000"/>
              </a:buClr>
              <a:buSzPct val="93333"/>
              <a:buFont typeface="Arial"/>
              <a:buNone/>
            </a:pPr>
            <a:r>
              <a:rPr lang="en"/>
              <a:t>Hardware Components</a:t>
            </a:r>
            <a:endParaRPr/>
          </a:p>
        </p:txBody>
      </p:sp>
      <p:sp>
        <p:nvSpPr>
          <p:cNvPr id="175" name="Google Shape;175;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n" sz="1600">
                <a:solidFill>
                  <a:srgbClr val="000000"/>
                </a:solidFill>
                <a:latin typeface="Book Antiqua"/>
                <a:ea typeface="Book Antiqua"/>
                <a:cs typeface="Book Antiqua"/>
                <a:sym typeface="Book Antiqua"/>
              </a:rPr>
              <a:t>RaspberryPi: </a:t>
            </a:r>
            <a:endParaRPr b="1" sz="1600">
              <a:solidFill>
                <a:srgbClr val="000000"/>
              </a:solidFill>
              <a:latin typeface="Book Antiqua"/>
              <a:ea typeface="Book Antiqua"/>
              <a:cs typeface="Book Antiqua"/>
              <a:sym typeface="Book Antiqua"/>
            </a:endParaRPr>
          </a:p>
          <a:p>
            <a:pPr indent="0" lvl="0" marL="0" rtl="0" algn="l">
              <a:lnSpc>
                <a:spcPct val="115000"/>
              </a:lnSpc>
              <a:spcBef>
                <a:spcPts val="1200"/>
              </a:spcBef>
              <a:spcAft>
                <a:spcPts val="0"/>
              </a:spcAft>
              <a:buSzPts val="1800"/>
              <a:buNone/>
            </a:pPr>
            <a:r>
              <a:rPr lang="en" sz="1600">
                <a:solidFill>
                  <a:srgbClr val="000000"/>
                </a:solidFill>
                <a:latin typeface="Book Antiqua"/>
                <a:ea typeface="Book Antiqua"/>
                <a:cs typeface="Book Antiqua"/>
                <a:sym typeface="Book Antiqua"/>
              </a:rPr>
              <a:t>A low-cost, credit-card-sized computer developed by the Raspberry Pi Foundation.</a:t>
            </a:r>
            <a:endParaRPr sz="1600">
              <a:solidFill>
                <a:srgbClr val="000000"/>
              </a:solidFill>
              <a:latin typeface="Book Antiqua"/>
              <a:ea typeface="Book Antiqua"/>
              <a:cs typeface="Book Antiqua"/>
              <a:sym typeface="Book Antiqua"/>
            </a:endParaRPr>
          </a:p>
          <a:p>
            <a:pPr indent="0" lvl="0" marL="0" rtl="0" algn="l">
              <a:lnSpc>
                <a:spcPct val="115000"/>
              </a:lnSpc>
              <a:spcBef>
                <a:spcPts val="1200"/>
              </a:spcBef>
              <a:spcAft>
                <a:spcPts val="0"/>
              </a:spcAft>
              <a:buSzPts val="1800"/>
              <a:buNone/>
            </a:pPr>
            <a:r>
              <a:rPr lang="en" sz="1600">
                <a:solidFill>
                  <a:srgbClr val="000000"/>
                </a:solidFill>
                <a:latin typeface="Book Antiqua"/>
                <a:ea typeface="Book Antiqua"/>
                <a:cs typeface="Book Antiqua"/>
                <a:sym typeface="Book Antiqua"/>
              </a:rPr>
              <a:t>🔹 </a:t>
            </a:r>
            <a:r>
              <a:rPr b="1" lang="en" sz="1600">
                <a:solidFill>
                  <a:srgbClr val="000000"/>
                </a:solidFill>
                <a:latin typeface="Book Antiqua"/>
                <a:ea typeface="Book Antiqua"/>
                <a:cs typeface="Book Antiqua"/>
                <a:sym typeface="Book Antiqua"/>
              </a:rPr>
              <a:t>Key Features:</a:t>
            </a:r>
            <a:endParaRPr b="1" sz="1600">
              <a:solidFill>
                <a:srgbClr val="000000"/>
              </a:solidFill>
              <a:latin typeface="Book Antiqua"/>
              <a:ea typeface="Book Antiqua"/>
              <a:cs typeface="Book Antiqua"/>
              <a:sym typeface="Book Antiqua"/>
            </a:endParaRPr>
          </a:p>
          <a:p>
            <a:pPr indent="-330200" lvl="0" marL="457200" rtl="0" algn="l">
              <a:lnSpc>
                <a:spcPct val="115000"/>
              </a:lnSpc>
              <a:spcBef>
                <a:spcPts val="1200"/>
              </a:spcBef>
              <a:spcAft>
                <a:spcPts val="0"/>
              </a:spcAft>
              <a:buClr>
                <a:srgbClr val="000000"/>
              </a:buClr>
              <a:buSzPts val="1600"/>
              <a:buFont typeface="Book Antiqua"/>
              <a:buChar char="●"/>
            </a:pPr>
            <a:r>
              <a:rPr lang="en" sz="1600">
                <a:solidFill>
                  <a:srgbClr val="000000"/>
                </a:solidFill>
                <a:latin typeface="Book Antiqua"/>
                <a:ea typeface="Book Antiqua"/>
                <a:cs typeface="Book Antiqua"/>
                <a:sym typeface="Book Antiqua"/>
              </a:rPr>
              <a:t>ARM-based CPU with various models (Pi 4, Pi 5, etc.)</a:t>
            </a:r>
            <a:br>
              <a:rPr lang="en" sz="1600">
                <a:solidFill>
                  <a:srgbClr val="000000"/>
                </a:solidFill>
                <a:latin typeface="Book Antiqua"/>
                <a:ea typeface="Book Antiqua"/>
                <a:cs typeface="Book Antiqua"/>
                <a:sym typeface="Book Antiqua"/>
              </a:rPr>
            </a:br>
            <a:endParaRPr sz="1600">
              <a:solidFill>
                <a:srgbClr val="000000"/>
              </a:solidFill>
              <a:latin typeface="Book Antiqua"/>
              <a:ea typeface="Book Antiqua"/>
              <a:cs typeface="Book Antiqua"/>
              <a:sym typeface="Book Antiqua"/>
            </a:endParaRPr>
          </a:p>
          <a:p>
            <a:pPr indent="-330200" lvl="0" marL="457200" rtl="0" algn="l">
              <a:lnSpc>
                <a:spcPct val="115000"/>
              </a:lnSpc>
              <a:spcBef>
                <a:spcPts val="0"/>
              </a:spcBef>
              <a:spcAft>
                <a:spcPts val="0"/>
              </a:spcAft>
              <a:buClr>
                <a:srgbClr val="000000"/>
              </a:buClr>
              <a:buSzPts val="1600"/>
              <a:buFont typeface="Book Antiqua"/>
              <a:buChar char="●"/>
            </a:pPr>
            <a:r>
              <a:rPr lang="en" sz="1600">
                <a:solidFill>
                  <a:srgbClr val="000000"/>
                </a:solidFill>
                <a:latin typeface="Book Antiqua"/>
                <a:ea typeface="Book Antiqua"/>
                <a:cs typeface="Book Antiqua"/>
                <a:sym typeface="Book Antiqua"/>
              </a:rPr>
              <a:t>Runs Linux-based OS (Raspberry Pi OS, Ubuntu, etc.)</a:t>
            </a:r>
            <a:br>
              <a:rPr lang="en" sz="1600">
                <a:solidFill>
                  <a:srgbClr val="000000"/>
                </a:solidFill>
                <a:latin typeface="Book Antiqua"/>
                <a:ea typeface="Book Antiqua"/>
                <a:cs typeface="Book Antiqua"/>
                <a:sym typeface="Book Antiqua"/>
              </a:rPr>
            </a:br>
            <a:endParaRPr sz="1600">
              <a:solidFill>
                <a:srgbClr val="000000"/>
              </a:solidFill>
              <a:latin typeface="Book Antiqua"/>
              <a:ea typeface="Book Antiqua"/>
              <a:cs typeface="Book Antiqua"/>
              <a:sym typeface="Book Antiqua"/>
            </a:endParaRPr>
          </a:p>
          <a:p>
            <a:pPr indent="-330200" lvl="0" marL="457200" rtl="0" algn="l">
              <a:lnSpc>
                <a:spcPct val="115000"/>
              </a:lnSpc>
              <a:spcBef>
                <a:spcPts val="0"/>
              </a:spcBef>
              <a:spcAft>
                <a:spcPts val="0"/>
              </a:spcAft>
              <a:buClr>
                <a:srgbClr val="000000"/>
              </a:buClr>
              <a:buSzPts val="1600"/>
              <a:buFont typeface="Book Antiqua"/>
              <a:buChar char="●"/>
            </a:pPr>
            <a:r>
              <a:rPr lang="en" sz="1600">
                <a:solidFill>
                  <a:srgbClr val="000000"/>
                </a:solidFill>
                <a:latin typeface="Book Antiqua"/>
                <a:ea typeface="Book Antiqua"/>
                <a:cs typeface="Book Antiqua"/>
                <a:sym typeface="Book Antiqua"/>
              </a:rPr>
              <a:t>Multiple USB ports, HDMI, GPIO pins for hardware projects</a:t>
            </a:r>
            <a:br>
              <a:rPr lang="en" sz="1600">
                <a:solidFill>
                  <a:srgbClr val="000000"/>
                </a:solidFill>
                <a:latin typeface="Book Antiqua"/>
                <a:ea typeface="Book Antiqua"/>
                <a:cs typeface="Book Antiqua"/>
                <a:sym typeface="Book Antiqua"/>
              </a:rPr>
            </a:br>
            <a:endParaRPr sz="1600">
              <a:solidFill>
                <a:srgbClr val="000000"/>
              </a:solidFill>
              <a:latin typeface="Book Antiqua"/>
              <a:ea typeface="Book Antiqua"/>
              <a:cs typeface="Book Antiqua"/>
              <a:sym typeface="Book Antiqua"/>
            </a:endParaRPr>
          </a:p>
          <a:p>
            <a:pPr indent="-330200" lvl="0" marL="457200" rtl="0" algn="l">
              <a:lnSpc>
                <a:spcPct val="115000"/>
              </a:lnSpc>
              <a:spcBef>
                <a:spcPts val="0"/>
              </a:spcBef>
              <a:spcAft>
                <a:spcPts val="0"/>
              </a:spcAft>
              <a:buClr>
                <a:srgbClr val="000000"/>
              </a:buClr>
              <a:buSzPts val="1600"/>
              <a:buFont typeface="Book Antiqua"/>
              <a:buChar char="●"/>
            </a:pPr>
            <a:r>
              <a:rPr lang="en" sz="1600">
                <a:solidFill>
                  <a:srgbClr val="000000"/>
                </a:solidFill>
                <a:latin typeface="Book Antiqua"/>
                <a:ea typeface="Book Antiqua"/>
                <a:cs typeface="Book Antiqua"/>
                <a:sym typeface="Book Antiqua"/>
              </a:rPr>
              <a:t>Supports Python, C++, and other programming languages</a:t>
            </a:r>
            <a:endParaRPr sz="1600">
              <a:solidFill>
                <a:srgbClr val="000000"/>
              </a:solidFill>
              <a:latin typeface="Book Antiqua"/>
              <a:ea typeface="Book Antiqua"/>
              <a:cs typeface="Book Antiqua"/>
              <a:sym typeface="Book Antiqua"/>
            </a:endParaRPr>
          </a:p>
          <a:p>
            <a:pPr indent="0" lvl="0" marL="0" rtl="0" algn="l">
              <a:lnSpc>
                <a:spcPct val="115000"/>
              </a:lnSpc>
              <a:spcBef>
                <a:spcPts val="1200"/>
              </a:spcBef>
              <a:spcAft>
                <a:spcPts val="0"/>
              </a:spcAft>
              <a:buSzPts val="1800"/>
              <a:buNone/>
            </a:pPr>
            <a:r>
              <a:t/>
            </a:r>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Block Diagram</a:t>
            </a:r>
            <a:endParaRPr/>
          </a:p>
        </p:txBody>
      </p:sp>
      <p:pic>
        <p:nvPicPr>
          <p:cNvPr id="181" name="Google Shape;181;p30"/>
          <p:cNvPicPr preferRelativeResize="0"/>
          <p:nvPr/>
        </p:nvPicPr>
        <p:blipFill rotWithShape="1">
          <a:blip r:embed="rId3">
            <a:alphaModFix/>
          </a:blip>
          <a:srcRect b="0" l="0" r="0" t="0"/>
          <a:stretch/>
        </p:blipFill>
        <p:spPr>
          <a:xfrm>
            <a:off x="1476625" y="1425675"/>
            <a:ext cx="6095700" cy="269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Modular Diagram</a:t>
            </a:r>
            <a:endParaRPr/>
          </a:p>
        </p:txBody>
      </p:sp>
      <p:grpSp>
        <p:nvGrpSpPr>
          <p:cNvPr id="187" name="Google Shape;187;p31"/>
          <p:cNvGrpSpPr/>
          <p:nvPr/>
        </p:nvGrpSpPr>
        <p:grpSpPr>
          <a:xfrm>
            <a:off x="311688" y="1369625"/>
            <a:ext cx="3555525" cy="924600"/>
            <a:chOff x="311688" y="1369625"/>
            <a:chExt cx="3555525" cy="924600"/>
          </a:xfrm>
        </p:grpSpPr>
        <p:cxnSp>
          <p:nvCxnSpPr>
            <p:cNvPr id="188" name="Google Shape;188;p31"/>
            <p:cNvCxnSpPr/>
            <p:nvPr/>
          </p:nvCxnSpPr>
          <p:spPr>
            <a:xfrm rot="10800000">
              <a:off x="2642013" y="1654113"/>
              <a:ext cx="1225200" cy="0"/>
            </a:xfrm>
            <a:prstGeom prst="straightConnector1">
              <a:avLst/>
            </a:prstGeom>
            <a:noFill/>
            <a:ln cap="flat" cmpd="sng" w="9525">
              <a:solidFill>
                <a:srgbClr val="249C91"/>
              </a:solidFill>
              <a:prstDash val="solid"/>
              <a:round/>
              <a:headEnd len="sm" w="sm" type="none"/>
              <a:tailEnd len="med" w="med" type="oval"/>
            </a:ln>
          </p:spPr>
        </p:cxnSp>
        <p:sp>
          <p:nvSpPr>
            <p:cNvPr id="189" name="Google Shape;189;p31"/>
            <p:cNvSpPr txBox="1"/>
            <p:nvPr/>
          </p:nvSpPr>
          <p:spPr>
            <a:xfrm>
              <a:off x="311688" y="1369625"/>
              <a:ext cx="2124000" cy="92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Times New Roman"/>
                  <a:ea typeface="Times New Roman"/>
                  <a:cs typeface="Times New Roman"/>
                  <a:sym typeface="Times New Roman"/>
                </a:rPr>
                <a:t>Traffic Video Input </a:t>
              </a:r>
              <a:endParaRPr b="1" i="0" sz="1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1600"/>
                </a:spcAft>
                <a:buClr>
                  <a:srgbClr val="000000"/>
                </a:buClr>
                <a:buSzPts val="900"/>
                <a:buFont typeface="Arial"/>
                <a:buNone/>
              </a:pPr>
              <a:r>
                <a:rPr b="0" i="0" lang="en" sz="900" u="none" cap="none" strike="noStrike">
                  <a:solidFill>
                    <a:srgbClr val="000000"/>
                  </a:solidFill>
                  <a:latin typeface="Times New Roman"/>
                  <a:ea typeface="Times New Roman"/>
                  <a:cs typeface="Times New Roman"/>
                  <a:sym typeface="Times New Roman"/>
                </a:rPr>
                <a:t>Collecting Traffic Data from youtube  and open Source Platform</a:t>
              </a:r>
              <a:endParaRPr b="1" i="0" sz="900" u="none" cap="none" strike="noStrike">
                <a:solidFill>
                  <a:srgbClr val="000000"/>
                </a:solidFill>
                <a:latin typeface="Times New Roman"/>
                <a:ea typeface="Times New Roman"/>
                <a:cs typeface="Times New Roman"/>
                <a:sym typeface="Times New Roman"/>
              </a:endParaRPr>
            </a:p>
          </p:txBody>
        </p:sp>
      </p:grpSp>
      <p:grpSp>
        <p:nvGrpSpPr>
          <p:cNvPr id="190" name="Google Shape;190;p31"/>
          <p:cNvGrpSpPr/>
          <p:nvPr/>
        </p:nvGrpSpPr>
        <p:grpSpPr>
          <a:xfrm>
            <a:off x="308838" y="2646125"/>
            <a:ext cx="3263100" cy="924600"/>
            <a:chOff x="308838" y="2646125"/>
            <a:chExt cx="3263100" cy="924600"/>
          </a:xfrm>
        </p:grpSpPr>
        <p:cxnSp>
          <p:nvCxnSpPr>
            <p:cNvPr id="191" name="Google Shape;191;p31"/>
            <p:cNvCxnSpPr/>
            <p:nvPr/>
          </p:nvCxnSpPr>
          <p:spPr>
            <a:xfrm rot="10800000">
              <a:off x="2641938" y="3108425"/>
              <a:ext cx="930000" cy="0"/>
            </a:xfrm>
            <a:prstGeom prst="straightConnector1">
              <a:avLst/>
            </a:prstGeom>
            <a:noFill/>
            <a:ln cap="flat" cmpd="sng" w="9525">
              <a:solidFill>
                <a:srgbClr val="1F887E"/>
              </a:solidFill>
              <a:prstDash val="solid"/>
              <a:round/>
              <a:headEnd len="sm" w="sm" type="none"/>
              <a:tailEnd len="med" w="med" type="oval"/>
            </a:ln>
          </p:spPr>
        </p:cxnSp>
        <p:sp>
          <p:nvSpPr>
            <p:cNvPr id="192" name="Google Shape;192;p31"/>
            <p:cNvSpPr txBox="1"/>
            <p:nvPr/>
          </p:nvSpPr>
          <p:spPr>
            <a:xfrm>
              <a:off x="308838" y="2646125"/>
              <a:ext cx="2124000" cy="92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Times New Roman"/>
                  <a:ea typeface="Times New Roman"/>
                  <a:cs typeface="Times New Roman"/>
                  <a:sym typeface="Times New Roman"/>
                </a:rPr>
                <a:t>Video Processing and Labelling </a:t>
              </a:r>
              <a:endParaRPr b="1" i="0" sz="1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1600"/>
                </a:spcAft>
                <a:buClr>
                  <a:srgbClr val="000000"/>
                </a:buClr>
                <a:buSzPts val="900"/>
                <a:buFont typeface="Arial"/>
                <a:buNone/>
              </a:pPr>
              <a:r>
                <a:rPr b="0" i="0" lang="en" sz="900" u="none" cap="none" strike="noStrike">
                  <a:solidFill>
                    <a:srgbClr val="000000"/>
                  </a:solidFill>
                  <a:latin typeface="Times New Roman"/>
                  <a:ea typeface="Times New Roman"/>
                  <a:cs typeface="Times New Roman"/>
                  <a:sym typeface="Times New Roman"/>
                </a:rPr>
                <a:t>Video is processed and labelled accordingly </a:t>
              </a:r>
              <a:endParaRPr b="1" i="0" sz="900" u="none" cap="none" strike="noStrike">
                <a:solidFill>
                  <a:srgbClr val="000000"/>
                </a:solidFill>
                <a:latin typeface="Times New Roman"/>
                <a:ea typeface="Times New Roman"/>
                <a:cs typeface="Times New Roman"/>
                <a:sym typeface="Times New Roman"/>
              </a:endParaRPr>
            </a:p>
          </p:txBody>
        </p:sp>
      </p:grpSp>
      <p:grpSp>
        <p:nvGrpSpPr>
          <p:cNvPr id="193" name="Google Shape;193;p31"/>
          <p:cNvGrpSpPr/>
          <p:nvPr/>
        </p:nvGrpSpPr>
        <p:grpSpPr>
          <a:xfrm>
            <a:off x="4657738" y="3383725"/>
            <a:ext cx="3989675" cy="924600"/>
            <a:chOff x="4657738" y="3383725"/>
            <a:chExt cx="3989675" cy="924600"/>
          </a:xfrm>
        </p:grpSpPr>
        <p:cxnSp>
          <p:nvCxnSpPr>
            <p:cNvPr id="194" name="Google Shape;194;p31"/>
            <p:cNvCxnSpPr/>
            <p:nvPr/>
          </p:nvCxnSpPr>
          <p:spPr>
            <a:xfrm>
              <a:off x="4657738" y="3854000"/>
              <a:ext cx="1838700" cy="0"/>
            </a:xfrm>
            <a:prstGeom prst="straightConnector1">
              <a:avLst/>
            </a:prstGeom>
            <a:noFill/>
            <a:ln cap="flat" cmpd="sng" w="9525">
              <a:solidFill>
                <a:srgbClr val="1D7E75"/>
              </a:solidFill>
              <a:prstDash val="solid"/>
              <a:round/>
              <a:headEnd len="sm" w="sm" type="none"/>
              <a:tailEnd len="med" w="med" type="oval"/>
            </a:ln>
          </p:spPr>
        </p:cxnSp>
        <p:sp>
          <p:nvSpPr>
            <p:cNvPr id="195" name="Google Shape;195;p31"/>
            <p:cNvSpPr txBox="1"/>
            <p:nvPr/>
          </p:nvSpPr>
          <p:spPr>
            <a:xfrm>
              <a:off x="6523413" y="3383725"/>
              <a:ext cx="2124000" cy="92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Times New Roman"/>
                  <a:ea typeface="Times New Roman"/>
                  <a:cs typeface="Times New Roman"/>
                  <a:sym typeface="Times New Roman"/>
                </a:rPr>
                <a:t>Model Training </a:t>
              </a:r>
              <a:endParaRPr b="1" i="0" sz="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1600"/>
                </a:spcAft>
                <a:buClr>
                  <a:srgbClr val="000000"/>
                </a:buClr>
                <a:buSzPts val="900"/>
                <a:buFont typeface="Arial"/>
                <a:buNone/>
              </a:pPr>
              <a:r>
                <a:rPr b="0" i="0" lang="en" sz="900" u="none" cap="none" strike="noStrike">
                  <a:solidFill>
                    <a:srgbClr val="000000"/>
                  </a:solidFill>
                  <a:latin typeface="Times New Roman"/>
                  <a:ea typeface="Times New Roman"/>
                  <a:cs typeface="Times New Roman"/>
                  <a:sym typeface="Times New Roman"/>
                </a:rPr>
                <a:t>Identifying multiple vehicles and differentiate between cars n emergency vehicles a model is trained</a:t>
              </a:r>
              <a:endParaRPr b="1" i="0" sz="900" u="none" cap="none" strike="noStrike">
                <a:solidFill>
                  <a:srgbClr val="000000"/>
                </a:solidFill>
                <a:latin typeface="Times New Roman"/>
                <a:ea typeface="Times New Roman"/>
                <a:cs typeface="Times New Roman"/>
                <a:sym typeface="Times New Roman"/>
              </a:endParaRPr>
            </a:p>
          </p:txBody>
        </p:sp>
      </p:grpSp>
      <p:grpSp>
        <p:nvGrpSpPr>
          <p:cNvPr id="196" name="Google Shape;196;p31"/>
          <p:cNvGrpSpPr/>
          <p:nvPr/>
        </p:nvGrpSpPr>
        <p:grpSpPr>
          <a:xfrm>
            <a:off x="5209838" y="1242975"/>
            <a:ext cx="3410600" cy="924600"/>
            <a:chOff x="5209838" y="1242975"/>
            <a:chExt cx="3410600" cy="924600"/>
          </a:xfrm>
        </p:grpSpPr>
        <p:sp>
          <p:nvSpPr>
            <p:cNvPr id="197" name="Google Shape;197;p31"/>
            <p:cNvSpPr txBox="1"/>
            <p:nvPr/>
          </p:nvSpPr>
          <p:spPr>
            <a:xfrm>
              <a:off x="6496438" y="1242975"/>
              <a:ext cx="2124000" cy="92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Times New Roman"/>
                  <a:ea typeface="Times New Roman"/>
                  <a:cs typeface="Times New Roman"/>
                  <a:sym typeface="Times New Roman"/>
                </a:rPr>
                <a:t>Smart Traffic Signalling </a:t>
              </a:r>
              <a:endParaRPr b="1" i="0" sz="1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1600"/>
                </a:spcAft>
                <a:buClr>
                  <a:srgbClr val="000000"/>
                </a:buClr>
                <a:buSzPts val="900"/>
                <a:buFont typeface="Arial"/>
                <a:buNone/>
              </a:pPr>
              <a:r>
                <a:rPr b="0" i="0" lang="en" sz="900" u="none" cap="none" strike="noStrike">
                  <a:solidFill>
                    <a:srgbClr val="000000"/>
                  </a:solidFill>
                  <a:latin typeface="Times New Roman"/>
                  <a:ea typeface="Times New Roman"/>
                  <a:cs typeface="Times New Roman"/>
                  <a:sym typeface="Times New Roman"/>
                </a:rPr>
                <a:t>Traffic signaling is managed by smart traffic signals with optimized timing.</a:t>
              </a:r>
              <a:endParaRPr b="1" i="0" sz="900" u="none" cap="none" strike="noStrike">
                <a:solidFill>
                  <a:srgbClr val="000000"/>
                </a:solidFill>
                <a:latin typeface="Times New Roman"/>
                <a:ea typeface="Times New Roman"/>
                <a:cs typeface="Times New Roman"/>
                <a:sym typeface="Times New Roman"/>
              </a:endParaRPr>
            </a:p>
          </p:txBody>
        </p:sp>
        <p:cxnSp>
          <p:nvCxnSpPr>
            <p:cNvPr id="198" name="Google Shape;198;p31"/>
            <p:cNvCxnSpPr/>
            <p:nvPr/>
          </p:nvCxnSpPr>
          <p:spPr>
            <a:xfrm>
              <a:off x="5209838" y="1654113"/>
              <a:ext cx="1286700" cy="0"/>
            </a:xfrm>
            <a:prstGeom prst="straightConnector1">
              <a:avLst/>
            </a:prstGeom>
            <a:noFill/>
            <a:ln cap="flat" cmpd="sng" w="9525">
              <a:solidFill>
                <a:srgbClr val="155B55"/>
              </a:solidFill>
              <a:prstDash val="solid"/>
              <a:round/>
              <a:headEnd len="sm" w="sm" type="none"/>
              <a:tailEnd len="med" w="med" type="oval"/>
            </a:ln>
          </p:spPr>
        </p:cxnSp>
      </p:grpSp>
      <p:grpSp>
        <p:nvGrpSpPr>
          <p:cNvPr id="199" name="Google Shape;199;p31"/>
          <p:cNvGrpSpPr/>
          <p:nvPr/>
        </p:nvGrpSpPr>
        <p:grpSpPr>
          <a:xfrm>
            <a:off x="5610288" y="2313350"/>
            <a:ext cx="3210063" cy="924600"/>
            <a:chOff x="5610288" y="2313350"/>
            <a:chExt cx="3210063" cy="924600"/>
          </a:xfrm>
        </p:grpSpPr>
        <p:cxnSp>
          <p:nvCxnSpPr>
            <p:cNvPr id="200" name="Google Shape;200;p31"/>
            <p:cNvCxnSpPr/>
            <p:nvPr/>
          </p:nvCxnSpPr>
          <p:spPr>
            <a:xfrm>
              <a:off x="5610288" y="2775650"/>
              <a:ext cx="886200" cy="0"/>
            </a:xfrm>
            <a:prstGeom prst="straightConnector1">
              <a:avLst/>
            </a:prstGeom>
            <a:noFill/>
            <a:ln cap="flat" cmpd="sng" w="9525">
              <a:solidFill>
                <a:srgbClr val="1B786F"/>
              </a:solidFill>
              <a:prstDash val="solid"/>
              <a:round/>
              <a:headEnd len="sm" w="sm" type="none"/>
              <a:tailEnd len="med" w="med" type="oval"/>
            </a:ln>
          </p:spPr>
        </p:cxnSp>
        <p:sp>
          <p:nvSpPr>
            <p:cNvPr id="201" name="Google Shape;201;p31"/>
            <p:cNvSpPr txBox="1"/>
            <p:nvPr/>
          </p:nvSpPr>
          <p:spPr>
            <a:xfrm>
              <a:off x="6496551" y="2313350"/>
              <a:ext cx="2323800" cy="92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Times New Roman"/>
                  <a:ea typeface="Times New Roman"/>
                  <a:cs typeface="Times New Roman"/>
                  <a:sym typeface="Times New Roman"/>
                </a:rPr>
                <a:t>Emergency Vehicle Detection</a:t>
              </a:r>
              <a:endParaRPr b="1" i="0" sz="1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1600"/>
                </a:spcAft>
                <a:buClr>
                  <a:srgbClr val="000000"/>
                </a:buClr>
                <a:buSzPts val="900"/>
                <a:buFont typeface="Arial"/>
                <a:buNone/>
              </a:pPr>
              <a:r>
                <a:rPr b="0" i="0" lang="en" sz="900" u="none" cap="none" strike="noStrike">
                  <a:solidFill>
                    <a:srgbClr val="000000"/>
                  </a:solidFill>
                  <a:latin typeface="Times New Roman"/>
                  <a:ea typeface="Times New Roman"/>
                  <a:cs typeface="Times New Roman"/>
                  <a:sym typeface="Times New Roman"/>
                </a:rPr>
                <a:t>Depending on the Trained Model the Traffic density is calculated and Emergency vehicles are detected</a:t>
              </a:r>
              <a:endParaRPr b="1" i="0" sz="900" u="none" cap="none" strike="noStrike">
                <a:solidFill>
                  <a:srgbClr val="000000"/>
                </a:solidFill>
                <a:latin typeface="Times New Roman"/>
                <a:ea typeface="Times New Roman"/>
                <a:cs typeface="Times New Roman"/>
                <a:sym typeface="Times New Roman"/>
              </a:endParaRPr>
            </a:p>
          </p:txBody>
        </p:sp>
      </p:grpSp>
      <p:grpSp>
        <p:nvGrpSpPr>
          <p:cNvPr id="202" name="Google Shape;202;p31"/>
          <p:cNvGrpSpPr/>
          <p:nvPr/>
        </p:nvGrpSpPr>
        <p:grpSpPr>
          <a:xfrm>
            <a:off x="2601237" y="654951"/>
            <a:ext cx="3922200" cy="3915924"/>
            <a:chOff x="2610906" y="610653"/>
            <a:chExt cx="3922200" cy="3922200"/>
          </a:xfrm>
        </p:grpSpPr>
        <p:sp>
          <p:nvSpPr>
            <p:cNvPr id="203" name="Google Shape;203;p31"/>
            <p:cNvSpPr/>
            <p:nvPr/>
          </p:nvSpPr>
          <p:spPr>
            <a:xfrm rot="-4980021">
              <a:off x="3204123" y="1186472"/>
              <a:ext cx="2771960" cy="2771960"/>
            </a:xfrm>
            <a:prstGeom prst="blockArc">
              <a:avLst>
                <a:gd fmla="val 12602522" name="adj1"/>
                <a:gd fmla="val 16867657" name="adj2"/>
                <a:gd fmla="val 20844" name="adj3"/>
              </a:avLst>
            </a:prstGeom>
            <a:solidFill>
              <a:srgbClr val="1F88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1"/>
            <p:cNvSpPr/>
            <p:nvPr/>
          </p:nvSpPr>
          <p:spPr>
            <a:xfrm rot="7920309">
              <a:off x="3183402" y="1183149"/>
              <a:ext cx="2777207" cy="2777207"/>
            </a:xfrm>
            <a:prstGeom prst="blockArc">
              <a:avLst>
                <a:gd fmla="val 12602522" name="adj1"/>
                <a:gd fmla="val 16867657" name="adj2"/>
                <a:gd fmla="val 20844" name="adj3"/>
              </a:avLst>
            </a:prstGeom>
            <a:solidFill>
              <a:srgbClr val="1B786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1"/>
            <p:cNvSpPr/>
            <p:nvPr/>
          </p:nvSpPr>
          <p:spPr>
            <a:xfrm rot="3600063">
              <a:off x="3186335" y="1195681"/>
              <a:ext cx="2777488" cy="2777488"/>
            </a:xfrm>
            <a:prstGeom prst="blockArc">
              <a:avLst>
                <a:gd fmla="val 12602522" name="adj1"/>
                <a:gd fmla="val 16867657" name="adj2"/>
                <a:gd fmla="val 20844" name="adj3"/>
              </a:avLst>
            </a:prstGeom>
            <a:solidFill>
              <a:srgbClr val="155B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31"/>
            <p:cNvSpPr/>
            <p:nvPr/>
          </p:nvSpPr>
          <p:spPr>
            <a:xfrm rot="4024705">
              <a:off x="5326681" y="1940898"/>
              <a:ext cx="578477" cy="579147"/>
            </a:xfrm>
            <a:prstGeom prst="pie">
              <a:avLst>
                <a:gd fmla="val 6190354" name="adj1"/>
                <a:gd fmla="val 14996165" name="adj2"/>
              </a:avLst>
            </a:prstGeom>
            <a:solidFill>
              <a:srgbClr val="1B786F"/>
            </a:solidFill>
            <a:ln>
              <a:noFill/>
            </a:ln>
            <a:effectLst>
              <a:outerShdw blurRad="142875" rotWithShape="0" algn="bl">
                <a:srgbClr val="000000">
                  <a:alpha val="4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1"/>
            <p:cNvSpPr/>
            <p:nvPr/>
          </p:nvSpPr>
          <p:spPr>
            <a:xfrm rot="-6816027">
              <a:off x="5326729" y="1940918"/>
              <a:ext cx="578485" cy="579035"/>
            </a:xfrm>
            <a:prstGeom prst="pie">
              <a:avLst>
                <a:gd fmla="val 4028252" name="adj1"/>
                <a:gd fmla="val 17183677" name="adj2"/>
              </a:avLst>
            </a:prstGeom>
            <a:solidFill>
              <a:srgbClr val="1B786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31"/>
            <p:cNvSpPr/>
            <p:nvPr/>
          </p:nvSpPr>
          <p:spPr>
            <a:xfrm rot="-9359762">
              <a:off x="3193941" y="1176205"/>
              <a:ext cx="2777287" cy="2777287"/>
            </a:xfrm>
            <a:prstGeom prst="blockArc">
              <a:avLst>
                <a:gd fmla="val 12602522" name="adj1"/>
                <a:gd fmla="val 16867657" name="adj2"/>
                <a:gd fmla="val 20844" name="adj3"/>
              </a:avLst>
            </a:prstGeom>
            <a:solidFill>
              <a:srgbClr val="1D7E7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31"/>
            <p:cNvSpPr/>
            <p:nvPr/>
          </p:nvSpPr>
          <p:spPr>
            <a:xfrm rot="-8936366">
              <a:off x="3659126" y="3173505"/>
              <a:ext cx="578551" cy="578963"/>
            </a:xfrm>
            <a:prstGeom prst="pie">
              <a:avLst>
                <a:gd fmla="val 6190354" name="adj1"/>
                <a:gd fmla="val 14996165" name="adj2"/>
              </a:avLst>
            </a:prstGeom>
            <a:solidFill>
              <a:srgbClr val="1F887E"/>
            </a:solidFill>
            <a:ln>
              <a:noFill/>
            </a:ln>
            <a:effectLst>
              <a:outerShdw blurRad="142875" rotWithShape="0" algn="bl">
                <a:srgbClr val="000000">
                  <a:alpha val="4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31"/>
            <p:cNvSpPr/>
            <p:nvPr/>
          </p:nvSpPr>
          <p:spPr>
            <a:xfrm rot="1824498">
              <a:off x="3659375" y="3173497"/>
              <a:ext cx="578475" cy="578885"/>
            </a:xfrm>
            <a:prstGeom prst="pie">
              <a:avLst>
                <a:gd fmla="val 4028252" name="adj1"/>
                <a:gd fmla="val 17183677" name="adj2"/>
              </a:avLst>
            </a:prstGeom>
            <a:solidFill>
              <a:srgbClr val="1F88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31"/>
            <p:cNvSpPr/>
            <p:nvPr/>
          </p:nvSpPr>
          <p:spPr>
            <a:xfrm rot="-600092">
              <a:off x="3198852" y="1195456"/>
              <a:ext cx="2777611" cy="2777611"/>
            </a:xfrm>
            <a:prstGeom prst="blockArc">
              <a:avLst>
                <a:gd fmla="val 12513247" name="adj1"/>
                <a:gd fmla="val 16867657" name="adj2"/>
                <a:gd fmla="val 20844" name="adj3"/>
              </a:avLst>
            </a:prstGeom>
            <a:solidFill>
              <a:srgbClr val="249C9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31"/>
            <p:cNvSpPr/>
            <p:nvPr/>
          </p:nvSpPr>
          <p:spPr>
            <a:xfrm rot="-176551">
              <a:off x="4312105" y="1195442"/>
              <a:ext cx="578563" cy="579162"/>
            </a:xfrm>
            <a:prstGeom prst="pie">
              <a:avLst>
                <a:gd fmla="val 6190354" name="adj1"/>
                <a:gd fmla="val 14996165" name="adj2"/>
              </a:avLst>
            </a:prstGeom>
            <a:solidFill>
              <a:srgbClr val="155B55"/>
            </a:solidFill>
            <a:ln>
              <a:noFill/>
            </a:ln>
            <a:effectLst>
              <a:outerShdw blurRad="142875" rotWithShape="0" algn="bl">
                <a:srgbClr val="000000">
                  <a:alpha val="4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31"/>
            <p:cNvSpPr/>
            <p:nvPr/>
          </p:nvSpPr>
          <p:spPr>
            <a:xfrm rot="10584085">
              <a:off x="4312088" y="1195622"/>
              <a:ext cx="578340" cy="578939"/>
            </a:xfrm>
            <a:prstGeom prst="pie">
              <a:avLst>
                <a:gd fmla="val 4028252" name="adj1"/>
                <a:gd fmla="val 17183677" name="adj2"/>
              </a:avLst>
            </a:prstGeom>
            <a:solidFill>
              <a:srgbClr val="155B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31"/>
            <p:cNvSpPr/>
            <p:nvPr/>
          </p:nvSpPr>
          <p:spPr>
            <a:xfrm rot="8344778">
              <a:off x="4940929" y="3162886"/>
              <a:ext cx="578465" cy="578888"/>
            </a:xfrm>
            <a:prstGeom prst="pie">
              <a:avLst>
                <a:gd fmla="val 6190354" name="adj1"/>
                <a:gd fmla="val 14996165" name="adj2"/>
              </a:avLst>
            </a:prstGeom>
            <a:solidFill>
              <a:srgbClr val="1D7E75"/>
            </a:solidFill>
            <a:ln>
              <a:noFill/>
            </a:ln>
            <a:effectLst>
              <a:outerShdw blurRad="142875" rotWithShape="0" algn="bl">
                <a:srgbClr val="000000">
                  <a:alpha val="4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31"/>
            <p:cNvSpPr/>
            <p:nvPr/>
          </p:nvSpPr>
          <p:spPr>
            <a:xfrm rot="-2495643">
              <a:off x="4941000" y="3162728"/>
              <a:ext cx="578445" cy="579093"/>
            </a:xfrm>
            <a:prstGeom prst="pie">
              <a:avLst>
                <a:gd fmla="val 4028252" name="adj1"/>
                <a:gd fmla="val 17183677" name="adj2"/>
              </a:avLst>
            </a:prstGeom>
            <a:solidFill>
              <a:srgbClr val="1D7E7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31"/>
            <p:cNvSpPr/>
            <p:nvPr/>
          </p:nvSpPr>
          <p:spPr>
            <a:xfrm rot="-4556960">
              <a:off x="3257335" y="1939059"/>
              <a:ext cx="578302" cy="578957"/>
            </a:xfrm>
            <a:prstGeom prst="pie">
              <a:avLst>
                <a:gd fmla="val 6190354" name="adj1"/>
                <a:gd fmla="val 14996165" name="adj2"/>
              </a:avLst>
            </a:prstGeom>
            <a:solidFill>
              <a:srgbClr val="249C91"/>
            </a:solidFill>
            <a:ln>
              <a:noFill/>
            </a:ln>
            <a:effectLst>
              <a:outerShdw blurRad="142875" rotWithShape="0" algn="bl">
                <a:srgbClr val="000000">
                  <a:alpha val="4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31"/>
            <p:cNvSpPr/>
            <p:nvPr/>
          </p:nvSpPr>
          <p:spPr>
            <a:xfrm rot="6204541">
              <a:off x="3257468" y="1938977"/>
              <a:ext cx="578264" cy="578917"/>
            </a:xfrm>
            <a:prstGeom prst="pie">
              <a:avLst>
                <a:gd fmla="val 4028252" name="adj1"/>
                <a:gd fmla="val 17183677" name="adj2"/>
              </a:avLst>
            </a:prstGeom>
            <a:solidFill>
              <a:srgbClr val="249C9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31"/>
            <p:cNvSpPr txBox="1"/>
            <p:nvPr/>
          </p:nvSpPr>
          <p:spPr>
            <a:xfrm>
              <a:off x="4341900" y="1271896"/>
              <a:ext cx="507900" cy="26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Roboto"/>
                  <a:ea typeface="Roboto"/>
                  <a:cs typeface="Roboto"/>
                  <a:sym typeface="Roboto"/>
                </a:rPr>
                <a:t>05</a:t>
              </a:r>
              <a:endParaRPr b="1" i="0" sz="1600" u="none" cap="none" strike="noStrike">
                <a:solidFill>
                  <a:srgbClr val="FFFFFF"/>
                </a:solidFill>
                <a:latin typeface="Roboto"/>
                <a:ea typeface="Roboto"/>
                <a:cs typeface="Roboto"/>
                <a:sym typeface="Roboto"/>
              </a:endParaRPr>
            </a:p>
          </p:txBody>
        </p:sp>
        <p:sp>
          <p:nvSpPr>
            <p:cNvPr id="219" name="Google Shape;219;p31"/>
            <p:cNvSpPr txBox="1"/>
            <p:nvPr/>
          </p:nvSpPr>
          <p:spPr>
            <a:xfrm>
              <a:off x="3274219" y="2018364"/>
              <a:ext cx="507900" cy="26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Roboto"/>
                  <a:ea typeface="Roboto"/>
                  <a:cs typeface="Roboto"/>
                  <a:sym typeface="Roboto"/>
                </a:rPr>
                <a:t>01</a:t>
              </a:r>
              <a:endParaRPr b="1" i="0" sz="1600" u="none" cap="none" strike="noStrike">
                <a:solidFill>
                  <a:srgbClr val="FFFFFF"/>
                </a:solidFill>
                <a:latin typeface="Roboto"/>
                <a:ea typeface="Roboto"/>
                <a:cs typeface="Roboto"/>
                <a:sym typeface="Roboto"/>
              </a:endParaRPr>
            </a:p>
          </p:txBody>
        </p:sp>
        <p:sp>
          <p:nvSpPr>
            <p:cNvPr id="220" name="Google Shape;220;p31"/>
            <p:cNvSpPr txBox="1"/>
            <p:nvPr/>
          </p:nvSpPr>
          <p:spPr>
            <a:xfrm>
              <a:off x="3685317" y="3247321"/>
              <a:ext cx="507900" cy="26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Roboto"/>
                  <a:ea typeface="Roboto"/>
                  <a:cs typeface="Roboto"/>
                  <a:sym typeface="Roboto"/>
                </a:rPr>
                <a:t>02</a:t>
              </a:r>
              <a:endParaRPr b="1" i="0" sz="1600" u="none" cap="none" strike="noStrike">
                <a:solidFill>
                  <a:srgbClr val="FFFFFF"/>
                </a:solidFill>
                <a:latin typeface="Roboto"/>
                <a:ea typeface="Roboto"/>
                <a:cs typeface="Roboto"/>
                <a:sym typeface="Roboto"/>
              </a:endParaRPr>
            </a:p>
          </p:txBody>
        </p:sp>
        <p:sp>
          <p:nvSpPr>
            <p:cNvPr id="221" name="Google Shape;221;p31"/>
            <p:cNvSpPr txBox="1"/>
            <p:nvPr/>
          </p:nvSpPr>
          <p:spPr>
            <a:xfrm>
              <a:off x="4955323" y="3247321"/>
              <a:ext cx="507900" cy="26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Roboto"/>
                  <a:ea typeface="Roboto"/>
                  <a:cs typeface="Roboto"/>
                  <a:sym typeface="Roboto"/>
                </a:rPr>
                <a:t>03</a:t>
              </a:r>
              <a:endParaRPr b="1" i="0" sz="1600" u="none" cap="none" strike="noStrike">
                <a:solidFill>
                  <a:srgbClr val="FFFFFF"/>
                </a:solidFill>
                <a:latin typeface="Roboto"/>
                <a:ea typeface="Roboto"/>
                <a:cs typeface="Roboto"/>
                <a:sym typeface="Roboto"/>
              </a:endParaRPr>
            </a:p>
          </p:txBody>
        </p:sp>
        <p:sp>
          <p:nvSpPr>
            <p:cNvPr id="222" name="Google Shape;222;p31"/>
            <p:cNvSpPr txBox="1"/>
            <p:nvPr/>
          </p:nvSpPr>
          <p:spPr>
            <a:xfrm>
              <a:off x="5364737" y="2018364"/>
              <a:ext cx="507900" cy="26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Roboto"/>
                  <a:ea typeface="Roboto"/>
                  <a:cs typeface="Roboto"/>
                  <a:sym typeface="Roboto"/>
                </a:rPr>
                <a:t>04</a:t>
              </a:r>
              <a:endParaRPr b="1" i="0" sz="1600" u="none" cap="none" strike="noStrike">
                <a:solidFill>
                  <a:srgbClr val="FFFFFF"/>
                </a:solidFill>
                <a:latin typeface="Roboto"/>
                <a:ea typeface="Roboto"/>
                <a:cs typeface="Roboto"/>
                <a:sym typeface="Roboto"/>
              </a:endParaRPr>
            </a:p>
          </p:txBody>
        </p:sp>
      </p:grpSp>
      <p:cxnSp>
        <p:nvCxnSpPr>
          <p:cNvPr id="223" name="Google Shape;223;p31"/>
          <p:cNvCxnSpPr/>
          <p:nvPr/>
        </p:nvCxnSpPr>
        <p:spPr>
          <a:xfrm rot="10800000">
            <a:off x="2642013" y="1654113"/>
            <a:ext cx="1225200" cy="0"/>
          </a:xfrm>
          <a:prstGeom prst="straightConnector1">
            <a:avLst/>
          </a:prstGeom>
          <a:noFill/>
          <a:ln cap="flat" cmpd="sng" w="9525">
            <a:solidFill>
              <a:srgbClr val="249C91"/>
            </a:solidFill>
            <a:prstDash val="solid"/>
            <a:round/>
            <a:headEnd len="sm" w="sm" type="none"/>
            <a:tailEnd len="med" w="med" type="oval"/>
          </a:ln>
        </p:spPr>
      </p:cxnSp>
      <p:cxnSp>
        <p:nvCxnSpPr>
          <p:cNvPr id="224" name="Google Shape;224;p31"/>
          <p:cNvCxnSpPr/>
          <p:nvPr/>
        </p:nvCxnSpPr>
        <p:spPr>
          <a:xfrm rot="10800000">
            <a:off x="2641938" y="3108425"/>
            <a:ext cx="930000" cy="0"/>
          </a:xfrm>
          <a:prstGeom prst="straightConnector1">
            <a:avLst/>
          </a:prstGeom>
          <a:noFill/>
          <a:ln cap="flat" cmpd="sng" w="9525">
            <a:solidFill>
              <a:srgbClr val="1F887E"/>
            </a:solidFill>
            <a:prstDash val="solid"/>
            <a:round/>
            <a:headEnd len="sm" w="sm" type="none"/>
            <a:tailEnd len="med" w="med" type="oval"/>
          </a:ln>
        </p:spPr>
      </p:cxnSp>
      <p:cxnSp>
        <p:nvCxnSpPr>
          <p:cNvPr id="225" name="Google Shape;225;p31"/>
          <p:cNvCxnSpPr/>
          <p:nvPr/>
        </p:nvCxnSpPr>
        <p:spPr>
          <a:xfrm>
            <a:off x="4657738" y="3854000"/>
            <a:ext cx="1838700" cy="0"/>
          </a:xfrm>
          <a:prstGeom prst="straightConnector1">
            <a:avLst/>
          </a:prstGeom>
          <a:noFill/>
          <a:ln cap="flat" cmpd="sng" w="9525">
            <a:solidFill>
              <a:srgbClr val="1D7E75"/>
            </a:solidFill>
            <a:prstDash val="solid"/>
            <a:round/>
            <a:headEnd len="sm" w="sm" type="none"/>
            <a:tailEnd len="med" w="med" type="oval"/>
          </a:ln>
        </p:spPr>
      </p:cxnSp>
      <p:cxnSp>
        <p:nvCxnSpPr>
          <p:cNvPr id="226" name="Google Shape;226;p31"/>
          <p:cNvCxnSpPr/>
          <p:nvPr/>
        </p:nvCxnSpPr>
        <p:spPr>
          <a:xfrm>
            <a:off x="5209838" y="1654113"/>
            <a:ext cx="1286700" cy="0"/>
          </a:xfrm>
          <a:prstGeom prst="straightConnector1">
            <a:avLst/>
          </a:prstGeom>
          <a:noFill/>
          <a:ln cap="flat" cmpd="sng" w="9525">
            <a:solidFill>
              <a:srgbClr val="155B55"/>
            </a:solidFill>
            <a:prstDash val="solid"/>
            <a:round/>
            <a:headEnd len="sm" w="sm" type="none"/>
            <a:tailEnd len="med" w="med" type="oval"/>
          </a:ln>
        </p:spPr>
      </p:cxnSp>
      <p:cxnSp>
        <p:nvCxnSpPr>
          <p:cNvPr id="227" name="Google Shape;227;p31"/>
          <p:cNvCxnSpPr/>
          <p:nvPr/>
        </p:nvCxnSpPr>
        <p:spPr>
          <a:xfrm>
            <a:off x="5610288" y="2775650"/>
            <a:ext cx="886200" cy="0"/>
          </a:xfrm>
          <a:prstGeom prst="straightConnector1">
            <a:avLst/>
          </a:prstGeom>
          <a:noFill/>
          <a:ln cap="flat" cmpd="sng" w="9525">
            <a:solidFill>
              <a:srgbClr val="1B786F"/>
            </a:solidFill>
            <a:prstDash val="solid"/>
            <a:round/>
            <a:headEnd len="sm" w="sm" type="none"/>
            <a:tailEnd len="med" w="med" type="oval"/>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Modular Diagram</a:t>
            </a:r>
            <a:endParaRPr/>
          </a:p>
        </p:txBody>
      </p:sp>
      <p:pic>
        <p:nvPicPr>
          <p:cNvPr id="233" name="Google Shape;233;p32"/>
          <p:cNvPicPr preferRelativeResize="0"/>
          <p:nvPr/>
        </p:nvPicPr>
        <p:blipFill rotWithShape="1">
          <a:blip r:embed="rId3">
            <a:alphaModFix/>
          </a:blip>
          <a:srcRect b="0" l="0" r="0" t="0"/>
          <a:stretch/>
        </p:blipFill>
        <p:spPr>
          <a:xfrm>
            <a:off x="4572001" y="346925"/>
            <a:ext cx="3240400" cy="46060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7" name="Shape 237"/>
        <p:cNvGrpSpPr/>
        <p:nvPr/>
      </p:nvGrpSpPr>
      <p:grpSpPr>
        <a:xfrm>
          <a:off x="0" y="0"/>
          <a:ext cx="0" cy="0"/>
          <a:chOff x="0" y="0"/>
          <a:chExt cx="0" cy="0"/>
        </a:xfrm>
      </p:grpSpPr>
      <p:sp>
        <p:nvSpPr>
          <p:cNvPr id="238" name="Google Shape;238;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2800"/>
              <a:buNone/>
            </a:pPr>
            <a:r>
              <a:rPr lang="en"/>
              <a:t>Next Work Plan </a:t>
            </a:r>
            <a:endParaRPr/>
          </a:p>
          <a:p>
            <a:pPr indent="0" lvl="0" marL="0" rtl="0" algn="l">
              <a:lnSpc>
                <a:spcPct val="100000"/>
              </a:lnSpc>
              <a:spcBef>
                <a:spcPts val="0"/>
              </a:spcBef>
              <a:spcAft>
                <a:spcPts val="0"/>
              </a:spcAft>
              <a:buClr>
                <a:schemeClr val="lt1"/>
              </a:buClr>
              <a:buSzPts val="2800"/>
              <a:buNone/>
            </a:pPr>
            <a:r>
              <a:t/>
            </a:r>
            <a:endParaRPr/>
          </a:p>
        </p:txBody>
      </p:sp>
      <p:sp>
        <p:nvSpPr>
          <p:cNvPr id="239" name="Google Shape;239;p33"/>
          <p:cNvSpPr txBox="1"/>
          <p:nvPr/>
        </p:nvSpPr>
        <p:spPr>
          <a:xfrm>
            <a:off x="311700" y="1017725"/>
            <a:ext cx="8121300" cy="4297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200"/>
              <a:buFont typeface="Arial"/>
              <a:buNone/>
            </a:pPr>
            <a:r>
              <a:rPr b="1" i="0" lang="en" sz="1200" u="none" cap="none" strike="noStrike">
                <a:solidFill>
                  <a:srgbClr val="000000"/>
                </a:solidFill>
                <a:latin typeface="Times New Roman"/>
                <a:ea typeface="Times New Roman"/>
                <a:cs typeface="Times New Roman"/>
                <a:sym typeface="Times New Roman"/>
              </a:rPr>
              <a:t>1. Integration with RFID Technology</a:t>
            </a:r>
            <a:endParaRPr b="1" i="0" sz="1200" u="none" cap="none" strike="noStrike">
              <a:solidFill>
                <a:srgbClr val="000000"/>
              </a:solidFill>
              <a:latin typeface="Times New Roman"/>
              <a:ea typeface="Times New Roman"/>
              <a:cs typeface="Times New Roman"/>
              <a:sym typeface="Times New Roman"/>
            </a:endParaRPr>
          </a:p>
          <a:p>
            <a:pPr indent="-304800" lvl="0" marL="457200" marR="0" rtl="0" algn="l">
              <a:lnSpc>
                <a:spcPct val="115000"/>
              </a:lnSpc>
              <a:spcBef>
                <a:spcPts val="1200"/>
              </a:spcBef>
              <a:spcAft>
                <a:spcPts val="0"/>
              </a:spcAft>
              <a:buClr>
                <a:srgbClr val="000000"/>
              </a:buClr>
              <a:buSzPts val="1200"/>
              <a:buFont typeface="Times New Roman"/>
              <a:buChar char="●"/>
            </a:pPr>
            <a:r>
              <a:rPr b="0" i="0" lang="en" sz="1200" u="none" cap="none" strike="noStrike">
                <a:solidFill>
                  <a:srgbClr val="000000"/>
                </a:solidFill>
                <a:latin typeface="Times New Roman"/>
                <a:ea typeface="Times New Roman"/>
                <a:cs typeface="Times New Roman"/>
                <a:sym typeface="Times New Roman"/>
              </a:rPr>
              <a:t>Implement RFID-based vehicle tracking to detect when a vehicle crosses a checkpoint.</a:t>
            </a:r>
            <a:endParaRPr b="0" i="0" sz="1200" u="none" cap="none" strike="noStrike">
              <a:solidFill>
                <a:srgbClr val="000000"/>
              </a:solidFill>
              <a:latin typeface="Times New Roman"/>
              <a:ea typeface="Times New Roman"/>
              <a:cs typeface="Times New Roman"/>
              <a:sym typeface="Times New Roman"/>
            </a:endParaRPr>
          </a:p>
          <a:p>
            <a:pPr indent="-304800" lvl="0" marL="457200" marR="0" rtl="0" algn="l">
              <a:lnSpc>
                <a:spcPct val="115000"/>
              </a:lnSpc>
              <a:spcBef>
                <a:spcPts val="1200"/>
              </a:spcBef>
              <a:spcAft>
                <a:spcPts val="0"/>
              </a:spcAft>
              <a:buClr>
                <a:srgbClr val="000000"/>
              </a:buClr>
              <a:buSzPts val="1200"/>
              <a:buFont typeface="Times New Roman"/>
              <a:buChar char="●"/>
            </a:pPr>
            <a:r>
              <a:rPr b="0" i="0" lang="en" sz="1200" u="none" cap="none" strike="noStrike">
                <a:solidFill>
                  <a:srgbClr val="000000"/>
                </a:solidFill>
                <a:latin typeface="Times New Roman"/>
                <a:ea typeface="Times New Roman"/>
                <a:cs typeface="Times New Roman"/>
                <a:sym typeface="Times New Roman"/>
              </a:rPr>
              <a:t>Classify vehicles as normal or special (e.g., emergency, VIP) based on RFID tags.</a:t>
            </a:r>
            <a:endParaRPr b="0" i="0" sz="12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200"/>
              <a:buFont typeface="Arial"/>
              <a:buNone/>
            </a:pPr>
            <a:r>
              <a:rPr b="1" i="0" lang="en" sz="1200" u="none" cap="none" strike="noStrike">
                <a:solidFill>
                  <a:srgbClr val="000000"/>
                </a:solidFill>
                <a:latin typeface="Times New Roman"/>
                <a:ea typeface="Times New Roman"/>
                <a:cs typeface="Times New Roman"/>
                <a:sym typeface="Times New Roman"/>
              </a:rPr>
              <a:t>2. Advanced Traffic Signal Control</a:t>
            </a:r>
            <a:endParaRPr b="1" i="0" sz="1200" u="none" cap="none" strike="noStrike">
              <a:solidFill>
                <a:srgbClr val="000000"/>
              </a:solidFill>
              <a:latin typeface="Times New Roman"/>
              <a:ea typeface="Times New Roman"/>
              <a:cs typeface="Times New Roman"/>
              <a:sym typeface="Times New Roman"/>
            </a:endParaRPr>
          </a:p>
          <a:p>
            <a:pPr indent="-304800" lvl="0" marL="457200" marR="0" rtl="0" algn="l">
              <a:lnSpc>
                <a:spcPct val="115000"/>
              </a:lnSpc>
              <a:spcBef>
                <a:spcPts val="1200"/>
              </a:spcBef>
              <a:spcAft>
                <a:spcPts val="0"/>
              </a:spcAft>
              <a:buClr>
                <a:srgbClr val="000000"/>
              </a:buClr>
              <a:buSzPts val="1200"/>
              <a:buFont typeface="Times New Roman"/>
              <a:buChar char="●"/>
            </a:pPr>
            <a:r>
              <a:rPr b="0" i="0" lang="en" sz="1200" u="none" cap="none" strike="noStrike">
                <a:solidFill>
                  <a:srgbClr val="000000"/>
                </a:solidFill>
                <a:latin typeface="Times New Roman"/>
                <a:ea typeface="Times New Roman"/>
                <a:cs typeface="Times New Roman"/>
                <a:sym typeface="Times New Roman"/>
              </a:rPr>
              <a:t>Prioritize emergency vehicles by detecting special RFID tags and adjusting signals accordingly.</a:t>
            </a:r>
            <a:endParaRPr b="0" i="0" sz="12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200"/>
              <a:buFont typeface="Arial"/>
              <a:buNone/>
            </a:pPr>
            <a:r>
              <a:rPr b="1" i="0" lang="en" sz="1200" u="none" cap="none" strike="noStrike">
                <a:solidFill>
                  <a:srgbClr val="000000"/>
                </a:solidFill>
                <a:latin typeface="Times New Roman"/>
                <a:ea typeface="Times New Roman"/>
                <a:cs typeface="Times New Roman"/>
                <a:sym typeface="Times New Roman"/>
              </a:rPr>
              <a:t>3. Sensor-Based Traffic Management</a:t>
            </a:r>
            <a:endParaRPr b="1" i="0" sz="1200" u="none" cap="none" strike="noStrike">
              <a:solidFill>
                <a:srgbClr val="000000"/>
              </a:solidFill>
              <a:latin typeface="Times New Roman"/>
              <a:ea typeface="Times New Roman"/>
              <a:cs typeface="Times New Roman"/>
              <a:sym typeface="Times New Roman"/>
            </a:endParaRPr>
          </a:p>
          <a:p>
            <a:pPr indent="-304800" lvl="0" marL="457200" marR="0" rtl="0" algn="l">
              <a:lnSpc>
                <a:spcPct val="115000"/>
              </a:lnSpc>
              <a:spcBef>
                <a:spcPts val="1200"/>
              </a:spcBef>
              <a:spcAft>
                <a:spcPts val="0"/>
              </a:spcAft>
              <a:buClr>
                <a:srgbClr val="000000"/>
              </a:buClr>
              <a:buSzPts val="1200"/>
              <a:buFont typeface="Times New Roman"/>
              <a:buChar char="●"/>
            </a:pPr>
            <a:r>
              <a:rPr b="0" i="0" lang="en" sz="1200" u="none" cap="none" strike="noStrike">
                <a:solidFill>
                  <a:srgbClr val="000000"/>
                </a:solidFill>
                <a:latin typeface="Times New Roman"/>
                <a:ea typeface="Times New Roman"/>
                <a:cs typeface="Times New Roman"/>
                <a:sym typeface="Times New Roman"/>
              </a:rPr>
              <a:t>Deploy ground sensors to verify vehicle presence at intersections.</a:t>
            </a:r>
            <a:endParaRPr b="0" i="0" sz="1200" u="none" cap="none" strike="noStrike">
              <a:solidFill>
                <a:srgbClr val="000000"/>
              </a:solidFill>
              <a:latin typeface="Times New Roman"/>
              <a:ea typeface="Times New Roman"/>
              <a:cs typeface="Times New Roman"/>
              <a:sym typeface="Times New Roman"/>
            </a:endParaRPr>
          </a:p>
          <a:p>
            <a:pPr indent="-304800" lvl="0" marL="457200" marR="0" rtl="0" algn="l">
              <a:lnSpc>
                <a:spcPct val="115000"/>
              </a:lnSpc>
              <a:spcBef>
                <a:spcPts val="1200"/>
              </a:spcBef>
              <a:spcAft>
                <a:spcPts val="0"/>
              </a:spcAft>
              <a:buClr>
                <a:srgbClr val="000000"/>
              </a:buClr>
              <a:buSzPts val="1200"/>
              <a:buFont typeface="Times New Roman"/>
              <a:buChar char="●"/>
            </a:pPr>
            <a:r>
              <a:rPr b="0" i="0" lang="en" sz="1200" u="none" cap="none" strike="noStrike">
                <a:solidFill>
                  <a:srgbClr val="000000"/>
                </a:solidFill>
                <a:latin typeface="Times New Roman"/>
                <a:ea typeface="Times New Roman"/>
                <a:cs typeface="Times New Roman"/>
                <a:sym typeface="Times New Roman"/>
              </a:rPr>
              <a:t>Integrate IoT-enabled sensors to enhance accuracy</a:t>
            </a:r>
            <a:endParaRPr b="0" i="0" sz="12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200"/>
              <a:buFont typeface="Arial"/>
              <a:buNone/>
            </a:pPr>
            <a:r>
              <a:rPr b="1" i="0" lang="en" sz="1200" u="none" cap="none" strike="noStrike">
                <a:solidFill>
                  <a:srgbClr val="000000"/>
                </a:solidFill>
                <a:latin typeface="Times New Roman"/>
                <a:ea typeface="Times New Roman"/>
                <a:cs typeface="Times New Roman"/>
                <a:sym typeface="Times New Roman"/>
              </a:rPr>
              <a:t>4. Traffic Signaling with LED Display</a:t>
            </a:r>
            <a:endParaRPr b="1" i="0" sz="1200" u="none" cap="none" strike="noStrike">
              <a:solidFill>
                <a:srgbClr val="000000"/>
              </a:solidFill>
              <a:latin typeface="Times New Roman"/>
              <a:ea typeface="Times New Roman"/>
              <a:cs typeface="Times New Roman"/>
              <a:sym typeface="Times New Roman"/>
            </a:endParaRPr>
          </a:p>
          <a:p>
            <a:pPr indent="-304800" lvl="0" marL="457200" marR="0" rtl="0" algn="l">
              <a:lnSpc>
                <a:spcPct val="115000"/>
              </a:lnSpc>
              <a:spcBef>
                <a:spcPts val="1200"/>
              </a:spcBef>
              <a:spcAft>
                <a:spcPts val="0"/>
              </a:spcAft>
              <a:buClr>
                <a:srgbClr val="000000"/>
              </a:buClr>
              <a:buSzPts val="1200"/>
              <a:buFont typeface="Times New Roman"/>
              <a:buChar char="●"/>
            </a:pPr>
            <a:r>
              <a:rPr b="0" i="0" lang="en" sz="1200" u="none" cap="none" strike="noStrike">
                <a:solidFill>
                  <a:srgbClr val="000000"/>
                </a:solidFill>
                <a:latin typeface="Times New Roman"/>
                <a:ea typeface="Times New Roman"/>
                <a:cs typeface="Times New Roman"/>
                <a:sym typeface="Times New Roman"/>
              </a:rPr>
              <a:t>Implement LED-based traffic signals controlled using resistors and microcontrollers.</a:t>
            </a:r>
            <a:endParaRPr b="0" i="0" sz="1200" u="none" cap="none" strike="noStrike">
              <a:solidFill>
                <a:srgbClr val="000000"/>
              </a:solidFill>
              <a:latin typeface="Times New Roman"/>
              <a:ea typeface="Times New Roman"/>
              <a:cs typeface="Times New Roman"/>
              <a:sym typeface="Times New Roman"/>
            </a:endParaRPr>
          </a:p>
          <a:p>
            <a:pPr indent="-304800" lvl="0" marL="457200" marR="0" rtl="0" algn="l">
              <a:lnSpc>
                <a:spcPct val="115000"/>
              </a:lnSpc>
              <a:spcBef>
                <a:spcPts val="1000"/>
              </a:spcBef>
              <a:spcAft>
                <a:spcPts val="0"/>
              </a:spcAft>
              <a:buClr>
                <a:srgbClr val="000000"/>
              </a:buClr>
              <a:buSzPts val="1200"/>
              <a:buFont typeface="Times New Roman"/>
              <a:buChar char="●"/>
            </a:pPr>
            <a:r>
              <a:rPr b="0" i="0" lang="en" sz="1200" u="none" cap="none" strike="noStrike">
                <a:solidFill>
                  <a:srgbClr val="000000"/>
                </a:solidFill>
                <a:latin typeface="Times New Roman"/>
                <a:ea typeface="Times New Roman"/>
                <a:cs typeface="Times New Roman"/>
                <a:sym typeface="Times New Roman"/>
              </a:rPr>
              <a:t>Adjust signal timings dynamically based on vehicle count and emergency conditions and display the signals .</a:t>
            </a:r>
            <a:endParaRPr b="0" i="0" sz="1200" u="none" cap="none" strike="noStrike">
              <a:solidFill>
                <a:srgbClr val="000000"/>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1100"/>
              <a:buFont typeface="Arial"/>
              <a:buNone/>
            </a:pPr>
            <a:r>
              <a:t/>
            </a:r>
            <a:endParaRPr b="0" i="0" sz="1500" u="none" cap="none" strike="noStrike">
              <a:solidFill>
                <a:srgbClr val="000000"/>
              </a:solidFill>
              <a:latin typeface="Times New Roman"/>
              <a:ea typeface="Times New Roman"/>
              <a:cs typeface="Times New Roman"/>
              <a:sym typeface="Times New Roman"/>
            </a:endParaRPr>
          </a:p>
          <a:p>
            <a:pPr indent="457200" lvl="0" marL="0" marR="0" rtl="0" algn="just">
              <a:lnSpc>
                <a:spcPct val="115000"/>
              </a:lnSpc>
              <a:spcBef>
                <a:spcPts val="1200"/>
              </a:spcBef>
              <a:spcAft>
                <a:spcPts val="0"/>
              </a:spcAft>
              <a:buClr>
                <a:srgbClr val="000000"/>
              </a:buClr>
              <a:buSzPts val="1100"/>
              <a:buFont typeface="Arial"/>
              <a:buNone/>
            </a:pPr>
            <a:r>
              <a:t/>
            </a:r>
            <a:endParaRPr b="0" i="0" sz="3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3200"/>
              <a:buFont typeface="Arial"/>
              <a:buNone/>
            </a:pPr>
            <a:r>
              <a:t/>
            </a:r>
            <a:endParaRPr b="0" i="0" sz="35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3" name="Shape 243"/>
        <p:cNvGrpSpPr/>
        <p:nvPr/>
      </p:nvGrpSpPr>
      <p:grpSpPr>
        <a:xfrm>
          <a:off x="0" y="0"/>
          <a:ext cx="0" cy="0"/>
          <a:chOff x="0" y="0"/>
          <a:chExt cx="0" cy="0"/>
        </a:xfrm>
      </p:grpSpPr>
      <p:sp>
        <p:nvSpPr>
          <p:cNvPr id="244" name="Google Shape;244;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2800"/>
              <a:buNone/>
            </a:pPr>
            <a:r>
              <a:rPr lang="en"/>
              <a:t>Next Work Plan </a:t>
            </a:r>
            <a:endParaRPr/>
          </a:p>
          <a:p>
            <a:pPr indent="0" lvl="0" marL="0" rtl="0" algn="l">
              <a:lnSpc>
                <a:spcPct val="100000"/>
              </a:lnSpc>
              <a:spcBef>
                <a:spcPts val="0"/>
              </a:spcBef>
              <a:spcAft>
                <a:spcPts val="0"/>
              </a:spcAft>
              <a:buClr>
                <a:schemeClr val="lt1"/>
              </a:buClr>
              <a:buSzPts val="2800"/>
              <a:buNone/>
            </a:pPr>
            <a:r>
              <a:t/>
            </a:r>
            <a:endParaRPr/>
          </a:p>
        </p:txBody>
      </p:sp>
      <p:pic>
        <p:nvPicPr>
          <p:cNvPr id="245" name="Google Shape;245;p34"/>
          <p:cNvPicPr preferRelativeResize="0"/>
          <p:nvPr/>
        </p:nvPicPr>
        <p:blipFill rotWithShape="1">
          <a:blip r:embed="rId3">
            <a:alphaModFix/>
          </a:blip>
          <a:srcRect b="0" l="0" r="0" t="0"/>
          <a:stretch/>
        </p:blipFill>
        <p:spPr>
          <a:xfrm>
            <a:off x="1917025" y="1017725"/>
            <a:ext cx="4766909" cy="3820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2800"/>
              <a:buNone/>
            </a:pPr>
            <a:r>
              <a:rPr lang="en"/>
              <a:t>Conclusion</a:t>
            </a:r>
            <a:endParaRPr/>
          </a:p>
        </p:txBody>
      </p:sp>
      <p:sp>
        <p:nvSpPr>
          <p:cNvPr id="251" name="Google Shape;251;p35"/>
          <p:cNvSpPr txBox="1"/>
          <p:nvPr/>
        </p:nvSpPr>
        <p:spPr>
          <a:xfrm>
            <a:off x="402425" y="1378600"/>
            <a:ext cx="8047200" cy="30828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200"/>
              </a:spcBef>
              <a:spcAft>
                <a:spcPts val="0"/>
              </a:spcAft>
              <a:buClr>
                <a:srgbClr val="000000"/>
              </a:buClr>
              <a:buSzPts val="1100"/>
              <a:buFont typeface="Arial"/>
              <a:buNone/>
            </a:pPr>
            <a:r>
              <a:rPr lang="en" sz="1600">
                <a:latin typeface="Times New Roman"/>
                <a:ea typeface="Times New Roman"/>
                <a:cs typeface="Times New Roman"/>
                <a:sym typeface="Times New Roman"/>
              </a:rPr>
              <a:t>In conclusion, our system utilizes open-source datasets combined with AI-driven classification techniques to efficiently detect and prioritize emergency vehicles across multiple traffic lanes. By adopting a modular design, we structured the workflow to ensure smooth data preparation, real-time traffic data processing, and lightweight deployment suitable even for low-resource IoT devices. The integration of Priority Queue algorithm, SRTF etc allows for intelligent decision-making, ensuring that emergency vehicles are given precedence at intersections without causing major traffic disruptions. Our approach is scalable, resource-efficient, and designed for real-world applications, aiming to transform urban traffic systems into smarter, faster, and more responsive networks that effectively cater to critical and emergency needs.</a:t>
            </a:r>
            <a:endParaRPr b="0" i="0" sz="16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3200"/>
              <a:buFont typeface="Arial"/>
              <a:buNone/>
            </a:pPr>
            <a:r>
              <a:t/>
            </a:r>
            <a:endParaRPr b="0" i="0" sz="3400" u="none" cap="none" strike="noStrike">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References</a:t>
            </a:r>
            <a:endParaRPr/>
          </a:p>
        </p:txBody>
      </p:sp>
      <p:sp>
        <p:nvSpPr>
          <p:cNvPr id="257" name="Google Shape;257;p36"/>
          <p:cNvSpPr txBox="1"/>
          <p:nvPr/>
        </p:nvSpPr>
        <p:spPr>
          <a:xfrm>
            <a:off x="311700" y="1130250"/>
            <a:ext cx="8460900" cy="3803400"/>
          </a:xfrm>
          <a:prstGeom prst="rect">
            <a:avLst/>
          </a:prstGeom>
          <a:noFill/>
          <a:ln>
            <a:noFill/>
          </a:ln>
        </p:spPr>
        <p:txBody>
          <a:bodyPr anchorCtr="0" anchor="t" bIns="91425" lIns="91425" spcFirstLastPara="1" rIns="91425" wrap="square" tIns="91425">
            <a:noAutofit/>
          </a:bodyPr>
          <a:lstStyle/>
          <a:p>
            <a:pPr indent="-304800" lvl="0" marL="457200" marR="0" rtl="0" algn="just">
              <a:lnSpc>
                <a:spcPct val="150000"/>
              </a:lnSpc>
              <a:spcBef>
                <a:spcPts val="1000"/>
              </a:spcBef>
              <a:spcAft>
                <a:spcPts val="0"/>
              </a:spcAft>
              <a:buClr>
                <a:srgbClr val="000000"/>
              </a:buClr>
              <a:buSzPts val="1200"/>
              <a:buFont typeface="Times New Roman"/>
              <a:buAutoNum type="arabicPeriod"/>
            </a:pPr>
            <a:r>
              <a:rPr b="0" i="0" lang="en" sz="1200" u="none" cap="none" strike="noStrike">
                <a:solidFill>
                  <a:srgbClr val="000000"/>
                </a:solidFill>
                <a:latin typeface="Times New Roman"/>
                <a:ea typeface="Times New Roman"/>
                <a:cs typeface="Times New Roman"/>
                <a:sym typeface="Times New Roman"/>
              </a:rPr>
              <a:t>M. A. Hossain, A. Rahman, and M. M. Alam, "Dynamic Traffic Light Controlling System Using Google Maps and IoT," </a:t>
            </a:r>
            <a:r>
              <a:rPr b="0" i="1" lang="en" sz="1200" u="none" cap="none" strike="noStrike">
                <a:solidFill>
                  <a:srgbClr val="000000"/>
                </a:solidFill>
                <a:latin typeface="Times New Roman"/>
                <a:ea typeface="Times New Roman"/>
                <a:cs typeface="Times New Roman"/>
                <a:sym typeface="Times New Roman"/>
              </a:rPr>
              <a:t>International Journal of Scientific Research in Science and Technology</a:t>
            </a:r>
            <a:r>
              <a:rPr b="0" i="0" lang="en" sz="1200" u="none" cap="none" strike="noStrike">
                <a:solidFill>
                  <a:srgbClr val="000000"/>
                </a:solidFill>
                <a:latin typeface="Times New Roman"/>
                <a:ea typeface="Times New Roman"/>
                <a:cs typeface="Times New Roman"/>
                <a:sym typeface="Times New Roman"/>
              </a:rPr>
              <a:t>, vol. 8, no. 5, pp. 250-257, Dec. 2020. </a:t>
            </a:r>
            <a:endParaRPr b="0" i="0" sz="1200" u="none" cap="none" strike="noStrike">
              <a:solidFill>
                <a:srgbClr val="000000"/>
              </a:solidFill>
              <a:latin typeface="Times New Roman"/>
              <a:ea typeface="Times New Roman"/>
              <a:cs typeface="Times New Roman"/>
              <a:sym typeface="Times New Roman"/>
            </a:endParaRPr>
          </a:p>
          <a:p>
            <a:pPr indent="-304800" lvl="0" marL="457200" marR="0" rtl="0" algn="just">
              <a:lnSpc>
                <a:spcPct val="150000"/>
              </a:lnSpc>
              <a:spcBef>
                <a:spcPts val="1000"/>
              </a:spcBef>
              <a:spcAft>
                <a:spcPts val="0"/>
              </a:spcAft>
              <a:buClr>
                <a:srgbClr val="000000"/>
              </a:buClr>
              <a:buSzPts val="1200"/>
              <a:buFont typeface="Times New Roman"/>
              <a:buAutoNum type="arabicPeriod"/>
            </a:pPr>
            <a:r>
              <a:rPr b="0" i="0" lang="en" sz="1200" u="none" cap="none" strike="noStrike">
                <a:solidFill>
                  <a:srgbClr val="000000"/>
                </a:solidFill>
                <a:highlight>
                  <a:srgbClr val="FFFFFF"/>
                </a:highlight>
                <a:latin typeface="Times New Roman"/>
                <a:ea typeface="Times New Roman"/>
                <a:cs typeface="Times New Roman"/>
                <a:sym typeface="Times New Roman"/>
              </a:rPr>
              <a:t>PLOS, "Mobile Phones in a Traffic Flow: A Geographical Perspective  to  Evening  Rush  Hour  Traffic  Analysis  Using  Call Detail Records," 5 9 2020+</a:t>
            </a:r>
            <a:endParaRPr b="0" i="0" sz="1200" u="none" cap="none" strike="noStrike">
              <a:solidFill>
                <a:srgbClr val="000000"/>
              </a:solidFill>
              <a:highlight>
                <a:srgbClr val="FFFFFF"/>
              </a:highlight>
              <a:latin typeface="Times New Roman"/>
              <a:ea typeface="Times New Roman"/>
              <a:cs typeface="Times New Roman"/>
              <a:sym typeface="Times New Roman"/>
            </a:endParaRPr>
          </a:p>
          <a:p>
            <a:pPr indent="-304800" lvl="0" marL="457200" marR="0" rtl="0" algn="just">
              <a:lnSpc>
                <a:spcPct val="150000"/>
              </a:lnSpc>
              <a:spcBef>
                <a:spcPts val="1000"/>
              </a:spcBef>
              <a:spcAft>
                <a:spcPts val="0"/>
              </a:spcAft>
              <a:buClr>
                <a:srgbClr val="000000"/>
              </a:buClr>
              <a:buSzPts val="1200"/>
              <a:buFont typeface="Times New Roman"/>
              <a:buAutoNum type="arabicPeriod"/>
            </a:pPr>
            <a:r>
              <a:rPr b="0" i="0" lang="en" sz="1200" u="none" cap="none" strike="noStrike">
                <a:solidFill>
                  <a:srgbClr val="000000"/>
                </a:solidFill>
                <a:highlight>
                  <a:srgbClr val="FFFFFF"/>
                </a:highlight>
                <a:latin typeface="Times New Roman"/>
                <a:ea typeface="Times New Roman"/>
                <a:cs typeface="Times New Roman"/>
                <a:sym typeface="Times New Roman"/>
              </a:rPr>
              <a:t>P. Jain, "Automatic Traffic Signal Controller for Roads by Exploiting Fuzzy Logic," in International Conference on Advances in Communication, Network, and Computing, Berlin, 2011.</a:t>
            </a:r>
            <a:endParaRPr b="0" i="0" sz="1200" u="none" cap="none" strike="noStrike">
              <a:solidFill>
                <a:srgbClr val="000000"/>
              </a:solidFill>
              <a:highlight>
                <a:srgbClr val="FFFFFF"/>
              </a:highlight>
              <a:latin typeface="Times New Roman"/>
              <a:ea typeface="Times New Roman"/>
              <a:cs typeface="Times New Roman"/>
              <a:sym typeface="Times New Roman"/>
            </a:endParaRPr>
          </a:p>
          <a:p>
            <a:pPr indent="-304800" lvl="0" marL="457200" marR="0" rtl="0" algn="just">
              <a:lnSpc>
                <a:spcPct val="150000"/>
              </a:lnSpc>
              <a:spcBef>
                <a:spcPts val="1000"/>
              </a:spcBef>
              <a:spcAft>
                <a:spcPts val="0"/>
              </a:spcAft>
              <a:buClr>
                <a:srgbClr val="000000"/>
              </a:buClr>
              <a:buSzPts val="1200"/>
              <a:buFont typeface="Times New Roman"/>
              <a:buAutoNum type="arabicPeriod"/>
            </a:pPr>
            <a:r>
              <a:rPr b="0" i="0" lang="en" sz="1200" u="none" cap="none" strike="noStrike">
                <a:solidFill>
                  <a:srgbClr val="000000"/>
                </a:solidFill>
                <a:highlight>
                  <a:srgbClr val="FFFFFF"/>
                </a:highlight>
                <a:latin typeface="Times New Roman"/>
                <a:ea typeface="Times New Roman"/>
                <a:cs typeface="Times New Roman"/>
                <a:sym typeface="Times New Roman"/>
              </a:rPr>
              <a:t>T. V. Janahiraman and M. S. M. Subuhan, "Traffic Light Detection Using Tensorflow Object Detection Framework," in IEEE International Conference on System Engineering and  Technology, 2019.</a:t>
            </a:r>
            <a:endParaRPr b="0" i="0" sz="1200" u="none" cap="none" strike="noStrike">
              <a:solidFill>
                <a:srgbClr val="000000"/>
              </a:solidFill>
              <a:highlight>
                <a:srgbClr val="FFFFFF"/>
              </a:highlight>
              <a:latin typeface="Times New Roman"/>
              <a:ea typeface="Times New Roman"/>
              <a:cs typeface="Times New Roman"/>
              <a:sym typeface="Times New Roman"/>
            </a:endParaRPr>
          </a:p>
          <a:p>
            <a:pPr indent="-304800" lvl="0" marL="457200" marR="0" rtl="0" algn="just">
              <a:lnSpc>
                <a:spcPct val="150000"/>
              </a:lnSpc>
              <a:spcBef>
                <a:spcPts val="0"/>
              </a:spcBef>
              <a:spcAft>
                <a:spcPts val="0"/>
              </a:spcAft>
              <a:buClr>
                <a:srgbClr val="000000"/>
              </a:buClr>
              <a:buSzPts val="1200"/>
              <a:buFont typeface="Times New Roman"/>
              <a:buAutoNum type="arabicPeriod"/>
            </a:pPr>
            <a:r>
              <a:rPr b="0" i="0" lang="en" sz="1200" u="none" cap="none" strike="noStrike">
                <a:solidFill>
                  <a:srgbClr val="000000"/>
                </a:solidFill>
                <a:latin typeface="Times New Roman"/>
                <a:ea typeface="Times New Roman"/>
                <a:cs typeface="Times New Roman"/>
                <a:sym typeface="Times New Roman"/>
              </a:rPr>
              <a:t>[1] A. Charef, Z. Jarir, and M. Quafafou, "Smart System for Emergency Traffic Recommendations: Urban Ambulance Mobility," </a:t>
            </a:r>
            <a:r>
              <a:rPr b="0" i="1" lang="en" sz="1200" u="none" cap="none" strike="noStrike">
                <a:solidFill>
                  <a:srgbClr val="000000"/>
                </a:solidFill>
                <a:latin typeface="Times New Roman"/>
                <a:ea typeface="Times New Roman"/>
                <a:cs typeface="Times New Roman"/>
                <a:sym typeface="Times New Roman"/>
              </a:rPr>
              <a:t>International Journal of Advanced Computer Science and Applications</a:t>
            </a:r>
            <a:r>
              <a:rPr b="0" i="0" lang="en" sz="1200" u="none" cap="none" strike="noStrike">
                <a:solidFill>
                  <a:srgbClr val="000000"/>
                </a:solidFill>
                <a:latin typeface="Times New Roman"/>
                <a:ea typeface="Times New Roman"/>
                <a:cs typeface="Times New Roman"/>
                <a:sym typeface="Times New Roman"/>
              </a:rPr>
              <a:t>, vol. 13, no. 10, pp. 1-8, 2022.</a:t>
            </a:r>
            <a:endParaRPr b="0" i="0" sz="1200" u="none" cap="none" strike="noStrike">
              <a:solidFill>
                <a:srgbClr val="000000"/>
              </a:solidFill>
              <a:latin typeface="Times New Roman"/>
              <a:ea typeface="Times New Roman"/>
              <a:cs typeface="Times New Roman"/>
              <a:sym typeface="Times New Roman"/>
            </a:endParaRPr>
          </a:p>
          <a:p>
            <a:pPr indent="-304800" lvl="0" marL="457200" marR="0" rtl="0" algn="just">
              <a:lnSpc>
                <a:spcPct val="150000"/>
              </a:lnSpc>
              <a:spcBef>
                <a:spcPts val="0"/>
              </a:spcBef>
              <a:spcAft>
                <a:spcPts val="0"/>
              </a:spcAft>
              <a:buClr>
                <a:srgbClr val="000000"/>
              </a:buClr>
              <a:buSzPts val="1200"/>
              <a:buFont typeface="Times New Roman"/>
              <a:buAutoNum type="arabicPeriod"/>
            </a:pPr>
            <a:r>
              <a:rPr b="0" i="0" lang="en" sz="1200" u="none" cap="none" strike="noStrike">
                <a:solidFill>
                  <a:srgbClr val="000000"/>
                </a:solidFill>
                <a:latin typeface="Times New Roman"/>
                <a:ea typeface="Times New Roman"/>
                <a:cs typeface="Times New Roman"/>
                <a:sym typeface="Times New Roman"/>
              </a:rPr>
              <a:t>[2] F. I. Sapundzhi and M. S. Popstoilov, "Optimization algorithms for finding the shortest paths," </a:t>
            </a:r>
            <a:r>
              <a:rPr b="0" i="1" lang="en" sz="1200" u="none" cap="none" strike="noStrike">
                <a:solidFill>
                  <a:srgbClr val="000000"/>
                </a:solidFill>
                <a:latin typeface="Times New Roman"/>
                <a:ea typeface="Times New Roman"/>
                <a:cs typeface="Times New Roman"/>
                <a:sym typeface="Times New Roman"/>
              </a:rPr>
              <a:t>Bulgarian Chemical Communications</a:t>
            </a:r>
            <a:r>
              <a:rPr b="0" i="0" lang="en" sz="1200" u="none" cap="none" strike="noStrike">
                <a:solidFill>
                  <a:srgbClr val="000000"/>
                </a:solidFill>
                <a:latin typeface="Times New Roman"/>
                <a:ea typeface="Times New Roman"/>
                <a:cs typeface="Times New Roman"/>
                <a:sym typeface="Times New Roman"/>
              </a:rPr>
              <a:t>, vol. 50, Special Issue B, pp. 115-120, 2018.</a:t>
            </a:r>
            <a:endParaRPr b="0" i="0" sz="12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3100"/>
              <a:buFont typeface="Arial"/>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rgbClr val="000000"/>
              </a:buClr>
              <a:buSzPct val="93333"/>
              <a:buFont typeface="Arial"/>
              <a:buNone/>
            </a:pPr>
            <a:r>
              <a:rPr lang="en"/>
              <a:t>References</a:t>
            </a:r>
            <a:endParaRPr/>
          </a:p>
          <a:p>
            <a:pPr indent="0" lvl="0" marL="0" rtl="0" algn="l">
              <a:lnSpc>
                <a:spcPct val="100000"/>
              </a:lnSpc>
              <a:spcBef>
                <a:spcPts val="0"/>
              </a:spcBef>
              <a:spcAft>
                <a:spcPts val="0"/>
              </a:spcAft>
              <a:buSzPct val="111111"/>
              <a:buNone/>
            </a:pPr>
            <a:r>
              <a:t/>
            </a:r>
            <a:endParaRPr/>
          </a:p>
        </p:txBody>
      </p:sp>
      <p:sp>
        <p:nvSpPr>
          <p:cNvPr id="263" name="Google Shape;263;p37"/>
          <p:cNvSpPr txBox="1"/>
          <p:nvPr/>
        </p:nvSpPr>
        <p:spPr>
          <a:xfrm>
            <a:off x="437925" y="1098675"/>
            <a:ext cx="7986600" cy="2667900"/>
          </a:xfrm>
          <a:prstGeom prst="rect">
            <a:avLst/>
          </a:prstGeom>
          <a:noFill/>
          <a:ln>
            <a:noFill/>
          </a:ln>
        </p:spPr>
        <p:txBody>
          <a:bodyPr anchorCtr="0" anchor="t" bIns="91425" lIns="91425" spcFirstLastPara="1" rIns="91425" wrap="square" tIns="91425">
            <a:noAutofit/>
          </a:bodyPr>
          <a:lstStyle/>
          <a:p>
            <a:pPr indent="-285750" lvl="0" marL="285750" marR="0" rtl="0" algn="just">
              <a:lnSpc>
                <a:spcPct val="150000"/>
              </a:lnSpc>
              <a:spcBef>
                <a:spcPts val="0"/>
              </a:spcBef>
              <a:spcAft>
                <a:spcPts val="0"/>
              </a:spcAft>
              <a:buClr>
                <a:srgbClr val="000000"/>
              </a:buClr>
              <a:buSzPts val="2300"/>
              <a:buFont typeface="Arial"/>
              <a:buNone/>
            </a:pPr>
            <a:r>
              <a:rPr b="0" i="0" lang="en" sz="1200" u="none" cap="none" strike="noStrike">
                <a:solidFill>
                  <a:srgbClr val="000000"/>
                </a:solidFill>
                <a:latin typeface="Times New Roman"/>
                <a:ea typeface="Times New Roman"/>
                <a:cs typeface="Times New Roman"/>
                <a:sym typeface="Times New Roman"/>
              </a:rPr>
              <a:t>7.    [3] Sarpal, Deepika &amp; Hota, Malaya Kumar. (2020). Article ID: IJEET_11_06_001 Cite this Article: Deepika Sarpal, Yatharth Asthana and Dr Malaya Kumar Hota, Review on Smart Traffic Management System for Ambulance. INTERNATIONAL JOURNAL OF ELECTRICAL ENGINEERING AND TECHNOLOGY. 11. 10.34218/IJEET.11.6.2020.001. </a:t>
            </a:r>
            <a:endParaRPr b="0" i="0" sz="1200" u="none" cap="none" strike="noStrike">
              <a:solidFill>
                <a:srgbClr val="000000"/>
              </a:solidFill>
              <a:latin typeface="Times New Roman"/>
              <a:ea typeface="Times New Roman"/>
              <a:cs typeface="Times New Roman"/>
              <a:sym typeface="Times New Roman"/>
            </a:endParaRPr>
          </a:p>
          <a:p>
            <a:pPr indent="-342900" lvl="0" marL="342900" marR="0" rtl="0" algn="just">
              <a:lnSpc>
                <a:spcPct val="150000"/>
              </a:lnSpc>
              <a:spcBef>
                <a:spcPts val="0"/>
              </a:spcBef>
              <a:spcAft>
                <a:spcPts val="0"/>
              </a:spcAft>
              <a:buClr>
                <a:srgbClr val="000000"/>
              </a:buClr>
              <a:buSzPts val="2300"/>
              <a:buFont typeface="Arial"/>
              <a:buNone/>
            </a:pPr>
            <a:r>
              <a:rPr b="0" i="0" lang="en" sz="1200" u="none" cap="none" strike="noStrike">
                <a:solidFill>
                  <a:srgbClr val="000000"/>
                </a:solidFill>
                <a:latin typeface="Times New Roman"/>
                <a:ea typeface="Times New Roman"/>
                <a:cs typeface="Times New Roman"/>
                <a:sym typeface="Times New Roman"/>
              </a:rPr>
              <a:t>8.    [4] P. Devi and S. Anila, "Intelligent Ambulance with Automatic Traffic Control," </a:t>
            </a:r>
            <a:r>
              <a:rPr b="0" i="1" lang="en" sz="1200" u="none" cap="none" strike="noStrike">
                <a:solidFill>
                  <a:srgbClr val="000000"/>
                </a:solidFill>
                <a:latin typeface="Times New Roman"/>
                <a:ea typeface="Times New Roman"/>
                <a:cs typeface="Times New Roman"/>
                <a:sym typeface="Times New Roman"/>
              </a:rPr>
              <a:t>2020 International Conference on Computing and Information Technology (ICCIT-1441)</a:t>
            </a:r>
            <a:r>
              <a:rPr b="0" i="0" lang="en" sz="1200" u="none" cap="none" strike="noStrike">
                <a:solidFill>
                  <a:srgbClr val="000000"/>
                </a:solidFill>
                <a:latin typeface="Times New Roman"/>
                <a:ea typeface="Times New Roman"/>
                <a:cs typeface="Times New Roman"/>
                <a:sym typeface="Times New Roman"/>
              </a:rPr>
              <a:t>, Tabuk, Saudi Arabia, 2020, pp. 1-4, doi: 10.1109/ICCIT-144147971.2020.9213796</a:t>
            </a:r>
            <a:endParaRPr b="0" i="0" sz="1200" u="none" cap="none" strike="noStrike">
              <a:solidFill>
                <a:srgbClr val="000000"/>
              </a:solidFill>
              <a:latin typeface="Times New Roman"/>
              <a:ea typeface="Times New Roman"/>
              <a:cs typeface="Times New Roman"/>
              <a:sym typeface="Times New Roman"/>
            </a:endParaRPr>
          </a:p>
          <a:p>
            <a:pPr indent="0" lvl="0" marL="0" marR="0" rtl="0" algn="just">
              <a:lnSpc>
                <a:spcPct val="150000"/>
              </a:lnSpc>
              <a:spcBef>
                <a:spcPts val="1000"/>
              </a:spcBef>
              <a:spcAft>
                <a:spcPts val="0"/>
              </a:spcAft>
              <a:buClr>
                <a:srgbClr val="000000"/>
              </a:buClr>
              <a:buSzPts val="2300"/>
              <a:buFont typeface="Arial"/>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